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309" r:id="rId11"/>
    <p:sldId id="268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67287-CE62-48CA-84CB-8BA015236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3CF4DE-FCF5-454B-8716-7FDB616F7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D19DA7-698F-4767-99EB-9BF1F145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21E3-CC55-4C0F-8672-EF1EC62D70D4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EDEB08-9FF7-4FF4-AD45-51D437DBF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D88BD6-F55C-45BE-8C8B-936DF3708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05F5-8A9F-4A5B-AC49-2930F83F8D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957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595BF-F11A-4768-9833-13A21180F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EDBFC4-C850-4FE0-AAE1-7B0529999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84C8E3-F56C-4037-AD1D-87633BBD5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21E3-CC55-4C0F-8672-EF1EC62D70D4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EC07C1-2975-4E80-8A32-DB5FC2C9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3289C0-2497-4C6E-B372-FE75CEAC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05F5-8A9F-4A5B-AC49-2930F83F8D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0355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20E78-C8E6-4C8F-AAAC-68BE5F2A8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417CCE-431D-43B7-B0B8-C1A7FA14A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772C11-8C91-4D4E-B059-5858DF35C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21E3-CC55-4C0F-8672-EF1EC62D70D4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0F3DF0-5CA7-4762-8405-3133B58C8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A65121-9E8A-4252-AFFC-5318F2C7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05F5-8A9F-4A5B-AC49-2930F83F8D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365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93384-5E4F-4C41-B777-30B37168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871C45-5CB9-4ED4-B672-73136DF626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4EE291-04A2-4C18-BCF5-E03F1AB95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7D2F20-1062-45D0-AE12-E8F28937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21E3-CC55-4C0F-8672-EF1EC62D70D4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0AD5BA-32DB-423D-81D4-902FE79B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6C637F-2E89-480F-99C8-59C03E51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05F5-8A9F-4A5B-AC49-2930F83F8D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966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C559BA-0680-425C-A8B5-F151FDE7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DFFAD-512F-4BAC-BD5B-2E5D7335C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27CF63-1E71-48F0-B09C-06D82A295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36B4123-5D67-45D6-B9BA-7BA6A805A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485DD24-2480-4338-99A7-34F8173B0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B91959-8C92-4986-9FC3-C4F8500E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21E3-CC55-4C0F-8672-EF1EC62D70D4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F451D6-8392-4E94-A51B-6A1C724FF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BD1313B-086C-4F2C-AAED-9A4361C6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05F5-8A9F-4A5B-AC49-2930F83F8D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61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17F8B-7A2E-46F4-A456-F0297899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45D1FC-3905-43D2-B95D-2FDC4FD8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21E3-CC55-4C0F-8672-EF1EC62D70D4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FC3A8F-CB48-42D6-A345-54544FED5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2D73436-ED5D-4863-AAA2-E017C586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05F5-8A9F-4A5B-AC49-2930F83F8D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745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7A4AEF5-C3DE-4244-A34F-D2B05C77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21E3-CC55-4C0F-8672-EF1EC62D70D4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C96178-9178-4BE2-AD88-D02F65E28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D7C270-2109-4BC6-90B9-14429678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05F5-8A9F-4A5B-AC49-2930F83F8D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25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6D592-661C-4319-BDFC-35D7ECEF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E3D0FB-4ADD-48DE-8AE3-38478EEE5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B743F4-CB41-4C23-AA50-548FE68BA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B81B48-EBAD-4946-9605-2B9AC319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21E3-CC55-4C0F-8672-EF1EC62D70D4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D1B27E-07FE-4D09-930B-AA7C2FC58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99DD5F-1FB4-4457-857C-2ACB2E86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05F5-8A9F-4A5B-AC49-2930F83F8D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75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265920-0DE7-4909-A00A-FCA2B839D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EB26B36-87AC-43E3-A55D-5B430B3B6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70B338-8163-4CE8-855B-1D369E61E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5E69F1-5B26-4099-ABEE-74AFFCEEE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21E3-CC55-4C0F-8672-EF1EC62D70D4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E0D01F-6C8F-4973-AA34-96A4D87C7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62AB22-59DC-42CF-9FCB-0BD30965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05F5-8A9F-4A5B-AC49-2930F83F8D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6607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7F598D-4F14-4DFD-859F-8309FFD1C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BE6027-52A7-4C8E-849C-A5DD34607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9164A8-A9CA-4EBB-9FA8-E1455F1A4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21E3-CC55-4C0F-8672-EF1EC62D70D4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05D47C-AF7B-469A-BCCB-417E001A4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129E10-CBD1-47AF-A787-766E01E33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05F5-8A9F-4A5B-AC49-2930F83F8D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91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57B971-5EEC-4BD9-A217-45EF702E7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00A66E-8CF1-4688-A56F-E0678C497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81528E-D617-486F-9564-5FA52F7D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E21E3-CC55-4C0F-8672-EF1EC62D70D4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6F8EF-C213-443E-A94B-33DECEA4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420B01-C39C-4118-9D98-7A6449CB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405F5-8A9F-4A5B-AC49-2930F83F8D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31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5C2F6C3-4A41-4FC6-A7BD-4D3520B48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1E1275-B48F-4EAA-9E0A-4B2E4B7D8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0FBF1C-C6FB-45CD-BBDA-8D73531B0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E21E3-CC55-4C0F-8672-EF1EC62D70D4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6D5CB1-9862-418F-BCF9-482265FCC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AA099F-204F-4997-90E9-B73C4703F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405F5-8A9F-4A5B-AC49-2930F83F8D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11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B489D-F00D-4A7D-83A1-BAC9842B76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Instalação do PROTHEUS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BCB6AD-BA30-426A-9898-816C1530D7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Autor: Milton J.dos Santos</a:t>
            </a:r>
          </a:p>
          <a:p>
            <a:r>
              <a:rPr lang="pt-BR" dirty="0"/>
              <a:t>Criado em: 14/10/2021</a:t>
            </a:r>
          </a:p>
        </p:txBody>
      </p:sp>
    </p:spTree>
    <p:extLst>
      <p:ext uri="{BB962C8B-B14F-4D97-AF65-F5344CB8AC3E}">
        <p14:creationId xmlns:p14="http://schemas.microsoft.com/office/powerpoint/2010/main" val="3688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97E4E-27E0-4EF2-B794-10F5DFED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CONTEÚDO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1832B-1171-4AB0-9612-0CB3BE73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ARQUITETURA PROTHEUS	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DOWNLOADS DE ARQUIVOS	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CRIANDO OS DIRETORIOS	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INSTALANDO O BD		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CONFIGURANDO ODBC 64	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INSTALANDO OS SERVIÇOS	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CONECTANDO OS SERVIÇOS	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INICIANDO O SISTEMA</a:t>
            </a:r>
          </a:p>
          <a:p>
            <a:pPr marL="0" indent="0">
              <a:buNone/>
            </a:pPr>
            <a:r>
              <a:rPr lang="pt-BR" dirty="0"/>
              <a:t>		</a:t>
            </a:r>
          </a:p>
          <a:p>
            <a:pPr marL="0" indent="0">
              <a:buNone/>
            </a:pPr>
            <a:r>
              <a:rPr lang="pt-BR" dirty="0"/>
              <a:t>9.  MATERIAL COMPLEMENTAR	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42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97E4E-27E0-4EF2-B794-10F5DFED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PROTHEUS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AC6CCC2-1B96-4E96-8EF9-FA78130BD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539" y="3228162"/>
            <a:ext cx="2152381" cy="1200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7BF3867-28BA-477C-BB75-8AF497BD6AB6}"/>
              </a:ext>
            </a:extLst>
          </p:cNvPr>
          <p:cNvSpPr txBox="1"/>
          <p:nvPr/>
        </p:nvSpPr>
        <p:spPr>
          <a:xfrm>
            <a:off x="2463282" y="2845839"/>
            <a:ext cx="199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C:\TOTVS\Protheus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A71A690-8E0C-4E9C-92C9-F39C2450CA06}"/>
              </a:ext>
            </a:extLst>
          </p:cNvPr>
          <p:cNvSpPr txBox="1"/>
          <p:nvPr/>
        </p:nvSpPr>
        <p:spPr>
          <a:xfrm>
            <a:off x="6702763" y="2886824"/>
            <a:ext cx="259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C:\TOTVS\ </a:t>
            </a:r>
            <a:r>
              <a:rPr lang="pt-BR" dirty="0" err="1"/>
              <a:t>Protheus_Data</a:t>
            </a:r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1F4F03E-6382-441A-93E3-DE7FA8A48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498" y="3403896"/>
            <a:ext cx="2590476" cy="1095238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EFC55701-B938-457A-B933-9687E431023C}"/>
              </a:ext>
            </a:extLst>
          </p:cNvPr>
          <p:cNvSpPr txBox="1"/>
          <p:nvPr/>
        </p:nvSpPr>
        <p:spPr>
          <a:xfrm>
            <a:off x="1726163" y="2274759"/>
            <a:ext cx="6246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Criar o diretório “C:\TOTVS\Protheus e C:\TOTVS\ </a:t>
            </a:r>
            <a:r>
              <a:rPr lang="pt-BR" dirty="0" err="1"/>
              <a:t>Protheus_data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277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97E4E-27E0-4EF2-B794-10F5DFED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DOWNLOADS DE ARQUIVOS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1832B-1171-4AB0-9612-0CB3BE73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Acessar o site da TOTVS e baixar arquivos compatíveis</a:t>
            </a:r>
          </a:p>
          <a:p>
            <a:pPr lvl="1"/>
            <a:r>
              <a:rPr lang="pt-BR" dirty="0"/>
              <a:t>Compatibilidade de versão</a:t>
            </a:r>
          </a:p>
          <a:p>
            <a:pPr lvl="1"/>
            <a:r>
              <a:rPr lang="pt-BR" dirty="0"/>
              <a:t>Compatibilidade de banco de dados</a:t>
            </a:r>
          </a:p>
          <a:p>
            <a:pPr lvl="1"/>
            <a:r>
              <a:rPr lang="pt-BR" dirty="0"/>
              <a:t>Arquivos básicos</a:t>
            </a:r>
          </a:p>
          <a:p>
            <a:pPr lvl="2"/>
            <a:r>
              <a:rPr lang="pt-BR" dirty="0" err="1"/>
              <a:t>AppServer</a:t>
            </a:r>
            <a:endParaRPr lang="pt-BR" dirty="0"/>
          </a:p>
          <a:p>
            <a:pPr lvl="2"/>
            <a:r>
              <a:rPr lang="pt-BR" dirty="0" err="1"/>
              <a:t>SmartClient</a:t>
            </a:r>
            <a:endParaRPr lang="pt-BR" dirty="0"/>
          </a:p>
          <a:p>
            <a:pPr lvl="2"/>
            <a:r>
              <a:rPr lang="pt-BR" dirty="0"/>
              <a:t>DbAccess64</a:t>
            </a:r>
          </a:p>
          <a:p>
            <a:pPr lvl="1"/>
            <a:r>
              <a:rPr lang="pt-BR" dirty="0"/>
              <a:t>Servidor de Licenças (</a:t>
            </a:r>
            <a:r>
              <a:rPr lang="pt-BR" dirty="0" err="1"/>
              <a:t>License</a:t>
            </a:r>
            <a:r>
              <a:rPr lang="pt-BR" dirty="0"/>
              <a:t> Server)</a:t>
            </a:r>
          </a:p>
        </p:txBody>
      </p:sp>
    </p:spTree>
    <p:extLst>
      <p:ext uri="{BB962C8B-B14F-4D97-AF65-F5344CB8AC3E}">
        <p14:creationId xmlns:p14="http://schemas.microsoft.com/office/powerpoint/2010/main" val="1546114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97E4E-27E0-4EF2-B794-10F5DFED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OS DIRETORIOS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1832B-1171-4AB0-9612-0CB3BE73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Se for criado a estrutura básica, o próprio sistema se auto </a:t>
            </a:r>
            <a:r>
              <a:rPr lang="pt-BR" dirty="0" err="1"/>
              <a:t>constroe</a:t>
            </a:r>
            <a:r>
              <a:rPr lang="pt-BR" dirty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C:\TOTVS</a:t>
            </a:r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C:\TOTVS\Protheus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C:\TOTVS\Protheus\APO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C:\TOTVS\Protheus\bin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C:\TOTVS\Protheus\bin\Appserver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C:\TOTVS\Protheus\bin\SmartClient</a:t>
            </a:r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C:\TOTVS\Protheus_Data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C:\TOTVS\Protheus_Data\system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C:\TOTVS\Protheus_Data\systemload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/>
              <a:t>C:\TOTVS\TOTVSLicenseVirtual</a:t>
            </a:r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16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97E4E-27E0-4EF2-B794-10F5DFED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BANDO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1832B-1171-4AB0-9612-0CB3BE73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INSTALANDO O SQL	</a:t>
            </a:r>
          </a:p>
          <a:p>
            <a:pPr lvl="1"/>
            <a:r>
              <a:rPr lang="pt-BR" dirty="0"/>
              <a:t>Utilizar apenas as versões homologadas pela TOTVS</a:t>
            </a:r>
          </a:p>
          <a:p>
            <a:pPr lvl="1"/>
            <a:r>
              <a:rPr lang="pt-BR" dirty="0"/>
              <a:t>Instalar versões 64 bits</a:t>
            </a:r>
          </a:p>
          <a:p>
            <a:pPr lvl="1"/>
            <a:r>
              <a:rPr lang="pt-BR" dirty="0"/>
              <a:t>Criar de usuário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pt-BR" dirty="0"/>
              <a:t>Autenticação mista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pt-BR" dirty="0"/>
              <a:t>Específico para acesso ao Protheus com todas as permissões</a:t>
            </a:r>
          </a:p>
          <a:p>
            <a:pPr lvl="1"/>
            <a:r>
              <a:rPr lang="pt-BR" dirty="0"/>
              <a:t>Criar a Estância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pt-BR" dirty="0"/>
              <a:t>Própria para o Protheus</a:t>
            </a:r>
          </a:p>
          <a:p>
            <a:pPr lvl="1"/>
            <a:endParaRPr lang="pt-BR" dirty="0"/>
          </a:p>
          <a:p>
            <a:pPr marL="514350" indent="-51435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7020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97E4E-27E0-4EF2-B794-10F5DFED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ODBC 64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1832B-1171-4AB0-9612-0CB3BE73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ODBC é uma ferramenta do Windows que irá conectar o </a:t>
            </a:r>
            <a:r>
              <a:rPr lang="pt-BR" dirty="0" err="1"/>
              <a:t>DBAccess</a:t>
            </a:r>
            <a:r>
              <a:rPr lang="pt-BR" dirty="0"/>
              <a:t> com o BANCO DE DADOS instalado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 ODBC deve ser compatível com o DBACCESS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Atenção especial ao DRIVE DE CONEXÃO, pois o desempenho do Protheus está relacionado diretamente a conexão trafegada entre DBACCESS,  ODBC e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1908320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97E4E-27E0-4EF2-B794-10F5DFED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OS SERVIÇOS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1832B-1171-4AB0-9612-0CB3BE73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pt-BR" dirty="0"/>
              <a:t>O APPSERVER, LICENSE SERVER, SQL, DBACCESS podem ser instalados como serviços para ser iniciados junto com o WINDOWS: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D2EC39A-BBCA-4BE7-857A-7533B7453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175" y="2824485"/>
            <a:ext cx="5587464" cy="335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05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97E4E-27E0-4EF2-B794-10F5DFED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OS SERVIÇOS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1832B-1171-4AB0-9612-0CB3BE73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pt-BR" dirty="0"/>
              <a:t>Para os programas TOTVS serem transformado em serviços do Windows é necessário executar o atalho como administrador, utilizando o parâmetro -INSTALL</a:t>
            </a:r>
          </a:p>
          <a:p>
            <a:pPr lvl="2" algn="just"/>
            <a:r>
              <a:rPr lang="pt-BR" dirty="0"/>
              <a:t>APPSERVER</a:t>
            </a:r>
          </a:p>
          <a:p>
            <a:pPr lvl="2" algn="just"/>
            <a:r>
              <a:rPr lang="pt-BR" dirty="0"/>
              <a:t>LICENSE SERVER </a:t>
            </a:r>
          </a:p>
          <a:p>
            <a:pPr lvl="2" algn="just"/>
            <a:r>
              <a:rPr lang="pt-BR" dirty="0"/>
              <a:t>DBACCESS64</a:t>
            </a:r>
          </a:p>
          <a:p>
            <a:pPr marL="0" indent="0" algn="just">
              <a:buNone/>
            </a:pPr>
            <a:r>
              <a:rPr lang="pt-BR" dirty="0"/>
              <a:t>2. A instalação do SQL coloca o serviço de BANCO on-line</a:t>
            </a:r>
          </a:p>
          <a:p>
            <a:pPr marL="0" indent="0" algn="just">
              <a:buNone/>
            </a:pPr>
            <a:r>
              <a:rPr lang="pt-BR" dirty="0"/>
              <a:t>3. A ODBC não é colocada como serviço, ficando sempre ativo</a:t>
            </a:r>
          </a:p>
          <a:p>
            <a:pPr marL="0" indent="0" algn="just">
              <a:buNone/>
            </a:pPr>
            <a:r>
              <a:rPr lang="pt-BR" dirty="0"/>
              <a:t>4. O </a:t>
            </a:r>
            <a:r>
              <a:rPr lang="pt-BR" dirty="0" err="1"/>
              <a:t>Smartclient</a:t>
            </a:r>
            <a:r>
              <a:rPr lang="pt-BR" dirty="0"/>
              <a:t> não é um serviço, sempre será ativado manualmente</a:t>
            </a:r>
          </a:p>
        </p:txBody>
      </p:sp>
    </p:spTree>
    <p:extLst>
      <p:ext uri="{BB962C8B-B14F-4D97-AF65-F5344CB8AC3E}">
        <p14:creationId xmlns:p14="http://schemas.microsoft.com/office/powerpoint/2010/main" val="1834830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0">
            <a:extLst>
              <a:ext uri="{FF2B5EF4-FFF2-40B4-BE49-F238E27FC236}">
                <a16:creationId xmlns:a16="http://schemas.microsoft.com/office/drawing/2014/main" id="{ABFDDA5F-6E9E-4575-B77D-C7A6B21BF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0446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sp>
        <p:nvSpPr>
          <p:cNvPr id="11267" name="AutoShape 29">
            <a:extLst>
              <a:ext uri="{FF2B5EF4-FFF2-40B4-BE49-F238E27FC236}">
                <a16:creationId xmlns:a16="http://schemas.microsoft.com/office/drawing/2014/main" id="{E62A541E-799B-4209-AEFB-68DD3F10373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152650" y="57150"/>
            <a:ext cx="7886700" cy="674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12F72E1-12AD-42C9-89E0-30A5D7942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CONECTANDO OS SERVIÇOS</a:t>
            </a:r>
          </a:p>
        </p:txBody>
      </p:sp>
      <p:sp>
        <p:nvSpPr>
          <p:cNvPr id="31" name="AutoShape 28">
            <a:extLst>
              <a:ext uri="{FF2B5EF4-FFF2-40B4-BE49-F238E27FC236}">
                <a16:creationId xmlns:a16="http://schemas.microsoft.com/office/drawing/2014/main" id="{373496D2-5E1F-4E7F-A715-4C43EDF15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3167369"/>
            <a:ext cx="2857500" cy="1257300"/>
          </a:xfrm>
          <a:prstGeom prst="flowChartProcess">
            <a:avLst/>
          </a:prstGeom>
          <a:gradFill rotWithShape="1">
            <a:gsLst>
              <a:gs pos="0">
                <a:srgbClr val="FFFFFF"/>
              </a:gs>
              <a:gs pos="100000">
                <a:srgbClr val="F4F4F4"/>
              </a:gs>
            </a:gsLst>
            <a:lin ang="0" scaled="1"/>
          </a:gradFill>
          <a:ln w="38100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000" b="1"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Camadas       </a:t>
            </a:r>
            <a:r>
              <a:rPr lang="pt-BR" altLang="pt-BR" sz="2000" b="1" i="1"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Protheus</a:t>
            </a:r>
            <a:endParaRPr lang="pt-BR" altLang="pt-BR" sz="1800">
              <a:ea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B556F945-7C03-4DFA-A915-36DFDC9E4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6288" y="2400300"/>
            <a:ext cx="228600" cy="1143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:a16="http://schemas.microsoft.com/office/drawing/2014/main" id="{44EA4FAB-DA77-49DB-A044-991A878CE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266700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0F966314-0886-4C28-BE9F-EE4537586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242570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65582259-EBB0-40C8-9BEA-237AB648E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6088" y="2665719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cxnSp>
        <p:nvCxnSpPr>
          <p:cNvPr id="36" name="AutoShape 23">
            <a:extLst>
              <a:ext uri="{FF2B5EF4-FFF2-40B4-BE49-F238E27FC236}">
                <a16:creationId xmlns:a16="http://schemas.microsoft.com/office/drawing/2014/main" id="{B70AC786-73EC-4711-A1F1-ABEE7BE550CF}"/>
              </a:ext>
            </a:extLst>
          </p:cNvPr>
          <p:cNvCxnSpPr>
            <a:cxnSpLocks noChangeShapeType="1"/>
            <a:endCxn id="52" idx="1"/>
          </p:cNvCxnSpPr>
          <p:nvPr/>
        </p:nvCxnSpPr>
        <p:spPr bwMode="auto">
          <a:xfrm flipV="1">
            <a:off x="3830252" y="2110094"/>
            <a:ext cx="1919674" cy="121207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rgbClr val="80808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Rectangle 22">
            <a:extLst>
              <a:ext uri="{FF2B5EF4-FFF2-40B4-BE49-F238E27FC236}">
                <a16:creationId xmlns:a16="http://schemas.microsoft.com/office/drawing/2014/main" id="{E311A9D6-4350-48D5-A336-8AC6BB45F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688" y="80010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A6391CEB-080A-4E4C-936D-61E0E1B22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288" y="285750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sp>
        <p:nvSpPr>
          <p:cNvPr id="39" name="Rectangle 20">
            <a:extLst>
              <a:ext uri="{FF2B5EF4-FFF2-40B4-BE49-F238E27FC236}">
                <a16:creationId xmlns:a16="http://schemas.microsoft.com/office/drawing/2014/main" id="{01418BB9-8345-4F94-9700-7C242BC49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6088" y="3453119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sp>
        <p:nvSpPr>
          <p:cNvPr id="40" name="Rectangle 19">
            <a:extLst>
              <a:ext uri="{FF2B5EF4-FFF2-40B4-BE49-F238E27FC236}">
                <a16:creationId xmlns:a16="http://schemas.microsoft.com/office/drawing/2014/main" id="{B9AE7FBE-7C17-414F-A780-CC9CCCE56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988" y="3453119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sp>
        <p:nvSpPr>
          <p:cNvPr id="41" name="Rectangle 18">
            <a:extLst>
              <a:ext uri="{FF2B5EF4-FFF2-40B4-BE49-F238E27FC236}">
                <a16:creationId xmlns:a16="http://schemas.microsoft.com/office/drawing/2014/main" id="{27BF15C9-0BAF-45B9-A23D-31B0052C0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988" y="3453119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cxnSp>
        <p:nvCxnSpPr>
          <p:cNvPr id="42" name="AutoShape 17">
            <a:extLst>
              <a:ext uri="{FF2B5EF4-FFF2-40B4-BE49-F238E27FC236}">
                <a16:creationId xmlns:a16="http://schemas.microsoft.com/office/drawing/2014/main" id="{9708C875-1A19-4F55-9DCC-019A47860A61}"/>
              </a:ext>
            </a:extLst>
          </p:cNvPr>
          <p:cNvCxnSpPr>
            <a:cxnSpLocks noChangeShapeType="1"/>
            <a:endCxn id="53" idx="1"/>
          </p:cNvCxnSpPr>
          <p:nvPr/>
        </p:nvCxnSpPr>
        <p:spPr bwMode="auto">
          <a:xfrm flipV="1">
            <a:off x="3849688" y="3130187"/>
            <a:ext cx="1879600" cy="565133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rgbClr val="80808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Rectangle 16">
            <a:extLst>
              <a:ext uri="{FF2B5EF4-FFF2-40B4-BE49-F238E27FC236}">
                <a16:creationId xmlns:a16="http://schemas.microsoft.com/office/drawing/2014/main" id="{2EFC6564-89A5-4BC3-9688-28BE28696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688" y="2995919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sp>
        <p:nvSpPr>
          <p:cNvPr id="44" name="Rectangle 15">
            <a:extLst>
              <a:ext uri="{FF2B5EF4-FFF2-40B4-BE49-F238E27FC236}">
                <a16:creationId xmlns:a16="http://schemas.microsoft.com/office/drawing/2014/main" id="{CA9B4683-D63C-4044-AFD5-CD89D4960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288" y="308610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cxnSp>
        <p:nvCxnSpPr>
          <p:cNvPr id="45" name="AutoShape 14">
            <a:extLst>
              <a:ext uri="{FF2B5EF4-FFF2-40B4-BE49-F238E27FC236}">
                <a16:creationId xmlns:a16="http://schemas.microsoft.com/office/drawing/2014/main" id="{26713323-31EF-4FCD-8098-5F3C1D1BFEBF}"/>
              </a:ext>
            </a:extLst>
          </p:cNvPr>
          <p:cNvCxnSpPr>
            <a:cxnSpLocks noChangeShapeType="1"/>
            <a:endCxn id="51" idx="1"/>
          </p:cNvCxnSpPr>
          <p:nvPr/>
        </p:nvCxnSpPr>
        <p:spPr bwMode="auto">
          <a:xfrm>
            <a:off x="3813176" y="3964684"/>
            <a:ext cx="1928812" cy="341382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rgbClr val="80808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Rectangle 13">
            <a:extLst>
              <a:ext uri="{FF2B5EF4-FFF2-40B4-BE49-F238E27FC236}">
                <a16:creationId xmlns:a16="http://schemas.microsoft.com/office/drawing/2014/main" id="{3326C816-008B-4CBD-B6F5-DD9BE96A8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688" y="4596119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sp>
        <p:nvSpPr>
          <p:cNvPr id="47" name="Rectangle 12">
            <a:extLst>
              <a:ext uri="{FF2B5EF4-FFF2-40B4-BE49-F238E27FC236}">
                <a16:creationId xmlns:a16="http://schemas.microsoft.com/office/drawing/2014/main" id="{83004612-143A-4E19-B9A6-E2D4957C9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288" y="331470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cxnSp>
        <p:nvCxnSpPr>
          <p:cNvPr id="48" name="AutoShape 11">
            <a:extLst>
              <a:ext uri="{FF2B5EF4-FFF2-40B4-BE49-F238E27FC236}">
                <a16:creationId xmlns:a16="http://schemas.microsoft.com/office/drawing/2014/main" id="{06F5CDB0-5001-48CF-A0EC-C54048523E60}"/>
              </a:ext>
            </a:extLst>
          </p:cNvPr>
          <p:cNvCxnSpPr>
            <a:cxnSpLocks noChangeShapeType="1"/>
            <a:endCxn id="54" idx="1"/>
          </p:cNvCxnSpPr>
          <p:nvPr/>
        </p:nvCxnSpPr>
        <p:spPr bwMode="auto">
          <a:xfrm>
            <a:off x="3847715" y="4302959"/>
            <a:ext cx="1881573" cy="1205879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rgbClr val="80808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Rectangle 10">
            <a:extLst>
              <a:ext uri="{FF2B5EF4-FFF2-40B4-BE49-F238E27FC236}">
                <a16:creationId xmlns:a16="http://schemas.microsoft.com/office/drawing/2014/main" id="{57DDB287-27A3-47AB-A8D9-3AE920F78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688" y="6196319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sp>
        <p:nvSpPr>
          <p:cNvPr id="50" name="Rectangle 9">
            <a:extLst>
              <a:ext uri="{FF2B5EF4-FFF2-40B4-BE49-F238E27FC236}">
                <a16:creationId xmlns:a16="http://schemas.microsoft.com/office/drawing/2014/main" id="{CD03176C-16FD-4280-8097-0C7090C7D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288" y="3543300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SzPct val="80000"/>
              <a:buFontTx/>
              <a:buNone/>
            </a:pPr>
            <a:endParaRPr lang="pt-BR" altLang="pt-BR" sz="280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sp>
        <p:nvSpPr>
          <p:cNvPr id="51" name="AutoShape 8">
            <a:extLst>
              <a:ext uri="{FF2B5EF4-FFF2-40B4-BE49-F238E27FC236}">
                <a16:creationId xmlns:a16="http://schemas.microsoft.com/office/drawing/2014/main" id="{40022669-FAD1-41CB-8F76-21FA2EEF1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988" y="3991741"/>
            <a:ext cx="2232796" cy="628650"/>
          </a:xfrm>
          <a:prstGeom prst="flowChartProcess">
            <a:avLst/>
          </a:prstGeom>
          <a:gradFill rotWithShape="1">
            <a:gsLst>
              <a:gs pos="0">
                <a:srgbClr val="FFFFFF"/>
              </a:gs>
              <a:gs pos="100000">
                <a:srgbClr val="F4F4F4"/>
              </a:gs>
            </a:gsLst>
            <a:lin ang="0" scaled="1"/>
          </a:gradFill>
          <a:ln w="38100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b="1"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Camada                                de Dados</a:t>
            </a:r>
            <a:endParaRPr lang="pt-BR" altLang="pt-BR" sz="1800">
              <a:ea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2" name="AutoShape 7">
            <a:extLst>
              <a:ext uri="{FF2B5EF4-FFF2-40B4-BE49-F238E27FC236}">
                <a16:creationId xmlns:a16="http://schemas.microsoft.com/office/drawing/2014/main" id="{0546256D-4A9B-497D-A05C-8FAE38AE2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926" y="1795769"/>
            <a:ext cx="2232796" cy="628650"/>
          </a:xfrm>
          <a:prstGeom prst="flowChartProcess">
            <a:avLst/>
          </a:prstGeom>
          <a:gradFill rotWithShape="1">
            <a:gsLst>
              <a:gs pos="0">
                <a:srgbClr val="FFFFFF"/>
              </a:gs>
              <a:gs pos="100000">
                <a:srgbClr val="F4F4F4"/>
              </a:gs>
            </a:gsLst>
            <a:lin ang="0" scaled="1"/>
          </a:gradFill>
          <a:ln w="38100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b="1"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Camada                                  de Aplicação</a:t>
            </a:r>
            <a:endParaRPr lang="pt-BR" altLang="pt-BR" sz="1800">
              <a:ea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3" name="AutoShape 6">
            <a:extLst>
              <a:ext uri="{FF2B5EF4-FFF2-40B4-BE49-F238E27FC236}">
                <a16:creationId xmlns:a16="http://schemas.microsoft.com/office/drawing/2014/main" id="{ABA7BAAD-955D-448B-B94D-442CDC041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288" y="2815862"/>
            <a:ext cx="2232796" cy="628650"/>
          </a:xfrm>
          <a:prstGeom prst="flowChartProcess">
            <a:avLst/>
          </a:prstGeom>
          <a:gradFill rotWithShape="1">
            <a:gsLst>
              <a:gs pos="0">
                <a:srgbClr val="FFFFFF"/>
              </a:gs>
              <a:gs pos="100000">
                <a:srgbClr val="F4F4F4"/>
              </a:gs>
            </a:gsLst>
            <a:lin ang="0" scaled="1"/>
          </a:gradFill>
          <a:ln w="38100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b="1"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Camada                                         de Interface</a:t>
            </a:r>
            <a:endParaRPr lang="pt-BR" altLang="pt-BR" sz="1800">
              <a:ea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  <p:sp>
        <p:nvSpPr>
          <p:cNvPr id="54" name="AutoShape 5">
            <a:extLst>
              <a:ext uri="{FF2B5EF4-FFF2-40B4-BE49-F238E27FC236}">
                <a16:creationId xmlns:a16="http://schemas.microsoft.com/office/drawing/2014/main" id="{EC5BBAA1-8535-4108-AA31-855EA20DC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288" y="5194513"/>
            <a:ext cx="2232796" cy="628650"/>
          </a:xfrm>
          <a:prstGeom prst="flowChartProcess">
            <a:avLst/>
          </a:prstGeom>
          <a:gradFill rotWithShape="1">
            <a:gsLst>
              <a:gs pos="0">
                <a:srgbClr val="FFFFFF"/>
              </a:gs>
              <a:gs pos="100000">
                <a:srgbClr val="F4F4F4"/>
              </a:gs>
            </a:gsLst>
            <a:lin ang="0" scaled="1"/>
          </a:gradFill>
          <a:ln w="38100">
            <a:solidFill>
              <a:srgbClr val="808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b="1" dirty="0">
                <a:latin typeface="Lucida Sans Unicode" panose="020B0602030504020204" pitchFamily="34" charset="0"/>
                <a:ea typeface="Times New Roman" panose="02020603050405020304" pitchFamily="18" charset="0"/>
                <a:cs typeface="Lucida Sans Unicode" panose="020B0602030504020204" pitchFamily="34" charset="0"/>
              </a:rPr>
              <a:t>Camada                                     de Repositório de Objetos</a:t>
            </a:r>
            <a:endParaRPr lang="pt-BR" altLang="pt-BR" sz="1800" dirty="0">
              <a:ea typeface="Times New Roman" panose="02020603050405020304" pitchFamily="18" charset="0"/>
              <a:cs typeface="Lucida Sans Unicode" panose="020B0602030504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7E25974-52F9-4FFC-8783-86FDB7A03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889250"/>
            <a:ext cx="2209800" cy="381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005C5C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CCFF"/>
                </a:solidFill>
                <a:latin typeface="Century Gothic" panose="020B0502020202020204" pitchFamily="34" charset="0"/>
              </a:rPr>
              <a:t>Server (AppServer.EXE)</a:t>
            </a:r>
            <a:endParaRPr lang="en-US" altLang="pt-BR" sz="1800">
              <a:solidFill>
                <a:schemeClr val="tx2"/>
              </a:solidFill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0D68519-6BBF-440E-BEF0-B0669C132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365500"/>
            <a:ext cx="2209800" cy="381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005C5C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CCFF"/>
                </a:solidFill>
                <a:latin typeface="Century Gothic" panose="020B0502020202020204" pitchFamily="34" charset="0"/>
              </a:rPr>
              <a:t>Monitor</a:t>
            </a:r>
            <a:endParaRPr lang="en-US" altLang="pt-BR" sz="24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9FD1711-7CDD-45E5-AAA1-0DF40123E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3538" y="2889250"/>
            <a:ext cx="2209800" cy="381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005C5C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CCFF"/>
                </a:solidFill>
                <a:latin typeface="Century Gothic" panose="020B0502020202020204" pitchFamily="34" charset="0"/>
              </a:rPr>
              <a:t>RPO (tttp120.rpo)</a:t>
            </a:r>
            <a:endParaRPr lang="en-US" altLang="pt-BR" sz="1800">
              <a:solidFill>
                <a:schemeClr val="tx2"/>
              </a:solidFill>
            </a:endParaRP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1CB6B356-DBD8-41E1-824A-3AF8613A5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5" y="4271963"/>
            <a:ext cx="2209800" cy="381000"/>
          </a:xfrm>
          <a:prstGeom prst="rect">
            <a:avLst/>
          </a:prstGeom>
          <a:solidFill>
            <a:srgbClr val="D3BB61"/>
          </a:solidFill>
          <a:ln w="9525">
            <a:miter lim="800000"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D3BB61"/>
            </a:extrusionClr>
            <a:contourClr>
              <a:srgbClr val="D3BB6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7F703A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FF99"/>
                </a:solidFill>
                <a:latin typeface="Century Gothic" panose="020B0502020202020204" pitchFamily="34" charset="0"/>
              </a:rPr>
              <a:t>DbAccess / Top Connect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2416DEBB-0D64-41A7-836D-8F03AFF0C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319393"/>
            <a:ext cx="1447800" cy="381000"/>
          </a:xfrm>
          <a:prstGeom prst="rect">
            <a:avLst/>
          </a:prstGeom>
          <a:solidFill>
            <a:srgbClr val="D3BB61"/>
          </a:solidFill>
          <a:ln w="9525">
            <a:miter lim="800000"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D3BB61"/>
            </a:extrusionClr>
            <a:contourClr>
              <a:srgbClr val="D3BB6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7F703A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FF99"/>
                </a:solidFill>
                <a:latin typeface="Century Gothic" panose="020B0502020202020204" pitchFamily="34" charset="0"/>
              </a:rPr>
              <a:t>DB2</a:t>
            </a:r>
            <a:endParaRPr lang="en-US" altLang="pt-BR" sz="2400" b="1">
              <a:solidFill>
                <a:srgbClr val="FFFF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75DCC8B1-83C2-42DB-A1A4-DD7542AC1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5319393"/>
            <a:ext cx="1447800" cy="381000"/>
          </a:xfrm>
          <a:prstGeom prst="rect">
            <a:avLst/>
          </a:prstGeom>
          <a:solidFill>
            <a:srgbClr val="D3BB61"/>
          </a:solidFill>
          <a:ln w="9525">
            <a:miter lim="800000"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D3BB61"/>
            </a:extrusionClr>
            <a:contourClr>
              <a:srgbClr val="D3BB6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7F703A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FF99"/>
                </a:solidFill>
                <a:latin typeface="Century Gothic" panose="020B0502020202020204" pitchFamily="34" charset="0"/>
              </a:rPr>
              <a:t>Oracle</a:t>
            </a:r>
            <a:endParaRPr lang="en-US" altLang="pt-BR" sz="2400" b="1">
              <a:solidFill>
                <a:srgbClr val="FFFF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10F60477-AA48-4E7D-8EF3-A8E12E8F7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5319393"/>
            <a:ext cx="1447800" cy="381000"/>
          </a:xfrm>
          <a:prstGeom prst="rect">
            <a:avLst/>
          </a:prstGeom>
          <a:solidFill>
            <a:srgbClr val="D3BB61"/>
          </a:solidFill>
          <a:ln w="9525">
            <a:miter lim="800000"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D3BB61"/>
            </a:extrusionClr>
            <a:contourClr>
              <a:srgbClr val="D3BB6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7F703A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FF99"/>
                </a:solidFill>
                <a:latin typeface="Century Gothic" panose="020B0502020202020204" pitchFamily="34" charset="0"/>
              </a:rPr>
              <a:t>SQL Server</a:t>
            </a:r>
            <a:endParaRPr lang="en-US" altLang="pt-BR" sz="2400" b="1">
              <a:solidFill>
                <a:srgbClr val="FFFF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19162CC1-60A3-46EF-898C-700EF6AD8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776593"/>
            <a:ext cx="1447800" cy="381000"/>
          </a:xfrm>
          <a:prstGeom prst="rect">
            <a:avLst/>
          </a:prstGeom>
          <a:solidFill>
            <a:srgbClr val="D3BB61"/>
          </a:solidFill>
          <a:ln w="9525">
            <a:miter lim="800000"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D3BB61"/>
            </a:extrusionClr>
            <a:contourClr>
              <a:srgbClr val="D3BB6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7F703A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FF99"/>
                </a:solidFill>
                <a:latin typeface="Century Gothic" panose="020B0502020202020204" pitchFamily="34" charset="0"/>
              </a:rPr>
              <a:t>MySQL</a:t>
            </a:r>
            <a:endParaRPr lang="en-US" altLang="pt-BR" sz="2400" b="1">
              <a:solidFill>
                <a:srgbClr val="FFFF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A0D1D936-17EA-493C-A15D-A2D84C7FF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5776593"/>
            <a:ext cx="1447800" cy="381000"/>
          </a:xfrm>
          <a:prstGeom prst="rect">
            <a:avLst/>
          </a:prstGeom>
          <a:solidFill>
            <a:srgbClr val="D3BB61"/>
          </a:solidFill>
          <a:ln w="9525">
            <a:miter lim="800000"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D3BB61"/>
            </a:extrusionClr>
            <a:contourClr>
              <a:srgbClr val="D3BB6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7F703A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FF99"/>
                </a:solidFill>
                <a:latin typeface="Century Gothic" panose="020B0502020202020204" pitchFamily="34" charset="0"/>
              </a:rPr>
              <a:t>PostGres</a:t>
            </a:r>
            <a:endParaRPr lang="en-US" altLang="pt-BR" sz="2400" b="1">
              <a:solidFill>
                <a:srgbClr val="FFFF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9A9CB295-B1ED-4F92-87DC-34770F76A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5776593"/>
            <a:ext cx="1447800" cy="381000"/>
          </a:xfrm>
          <a:prstGeom prst="rect">
            <a:avLst/>
          </a:prstGeom>
          <a:solidFill>
            <a:srgbClr val="D3BB61"/>
          </a:solidFill>
          <a:ln w="9525">
            <a:miter lim="800000"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D3BB61"/>
            </a:extrusionClr>
            <a:contourClr>
              <a:srgbClr val="D3BB6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7F703A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FF99"/>
                </a:solidFill>
                <a:latin typeface="Century Gothic" panose="020B0502020202020204" pitchFamily="34" charset="0"/>
              </a:rPr>
              <a:t>Sybase</a:t>
            </a:r>
            <a:endParaRPr lang="en-US" altLang="pt-BR" sz="2400" b="1">
              <a:solidFill>
                <a:srgbClr val="FFFF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0EEDF6D6-13AC-4014-A2C0-F8A507D8A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917700"/>
            <a:ext cx="1447800" cy="381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FF00"/>
                </a:solidFill>
                <a:latin typeface="Century Gothic" panose="020B0502020202020204" pitchFamily="34" charset="0"/>
              </a:rPr>
              <a:t>Client (WEB)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FF00"/>
                </a:solidFill>
                <a:latin typeface="Century Gothic" panose="020B0502020202020204" pitchFamily="34" charset="0"/>
              </a:rPr>
              <a:t>ActiveX</a:t>
            </a:r>
            <a:endParaRPr lang="en-US" altLang="pt-BR" sz="24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33" name="Rectangle 14">
            <a:extLst>
              <a:ext uri="{FF2B5EF4-FFF2-40B4-BE49-F238E27FC236}">
                <a16:creationId xmlns:a16="http://schemas.microsoft.com/office/drawing/2014/main" id="{D1489312-1ECB-4E7F-979B-16C11A894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1" y="1916113"/>
            <a:ext cx="2887663" cy="3810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708688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FF00"/>
                </a:solidFill>
                <a:latin typeface="Century Gothic" panose="020B0502020202020204" pitchFamily="34" charset="0"/>
              </a:rPr>
              <a:t>Remote (SmartClient.EXE)</a:t>
            </a:r>
            <a:endParaRPr lang="en-US" altLang="pt-BR" sz="2400" b="1">
              <a:latin typeface="Times New Roman" panose="02020603050405020304" pitchFamily="18" charset="0"/>
            </a:endParaRPr>
          </a:p>
        </p:txBody>
      </p:sp>
      <p:sp>
        <p:nvSpPr>
          <p:cNvPr id="5134" name="Line 15">
            <a:extLst>
              <a:ext uri="{FF2B5EF4-FFF2-40B4-BE49-F238E27FC236}">
                <a16:creationId xmlns:a16="http://schemas.microsoft.com/office/drawing/2014/main" id="{89800CE0-F894-49DC-9556-686E6A1E04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1312" y="2581272"/>
            <a:ext cx="6122988" cy="4764"/>
          </a:xfrm>
          <a:prstGeom prst="line">
            <a:avLst/>
          </a:prstGeom>
          <a:noFill/>
          <a:ln w="12700">
            <a:solidFill>
              <a:srgbClr val="FF9900"/>
            </a:solidFill>
            <a:round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5C00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/>
          </a:p>
        </p:txBody>
      </p:sp>
      <p:sp>
        <p:nvSpPr>
          <p:cNvPr id="5135" name="Line 16">
            <a:extLst>
              <a:ext uri="{FF2B5EF4-FFF2-40B4-BE49-F238E27FC236}">
                <a16:creationId xmlns:a16="http://schemas.microsoft.com/office/drawing/2014/main" id="{DED41F45-FE5D-4EC8-8544-47EE9EBBFA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9604" y="4038600"/>
            <a:ext cx="6314696" cy="4764"/>
          </a:xfrm>
          <a:prstGeom prst="line">
            <a:avLst/>
          </a:prstGeom>
          <a:noFill/>
          <a:ln w="12700">
            <a:solidFill>
              <a:srgbClr val="FF9900"/>
            </a:solidFill>
            <a:round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5C00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/>
          </a:p>
        </p:txBody>
      </p:sp>
      <p:sp>
        <p:nvSpPr>
          <p:cNvPr id="5139" name="Text Box 21">
            <a:extLst>
              <a:ext uri="{FF2B5EF4-FFF2-40B4-BE49-F238E27FC236}">
                <a16:creationId xmlns:a16="http://schemas.microsoft.com/office/drawing/2014/main" id="{D60394BE-0C76-4B8F-B3C4-300868B72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1981201"/>
            <a:ext cx="806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kumimoji="1" lang="pt-BR" altLang="pt-BR" sz="2000" dirty="0" err="1">
                <a:latin typeface="Impact" panose="020B0806030902050204" pitchFamily="34" charset="0"/>
              </a:rPr>
              <a:t>Client</a:t>
            </a:r>
            <a:endParaRPr kumimoji="1" lang="pt-BR" altLang="pt-BR" sz="2000" dirty="0">
              <a:latin typeface="Impact" panose="020B0806030902050204" pitchFamily="34" charset="0"/>
            </a:endParaRPr>
          </a:p>
        </p:txBody>
      </p:sp>
      <p:sp>
        <p:nvSpPr>
          <p:cNvPr id="5140" name="Text Box 22">
            <a:extLst>
              <a:ext uri="{FF2B5EF4-FFF2-40B4-BE49-F238E27FC236}">
                <a16:creationId xmlns:a16="http://schemas.microsoft.com/office/drawing/2014/main" id="{AABB0E24-B7B4-4FFE-8855-DDACED8B1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1438" y="3048000"/>
            <a:ext cx="12493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kumimoji="1" lang="pt-BR" altLang="pt-BR" sz="2000" dirty="0" err="1">
                <a:latin typeface="Impact" panose="020B0806030902050204" pitchFamily="34" charset="0"/>
              </a:rPr>
              <a:t>Aplication</a:t>
            </a:r>
            <a:endParaRPr kumimoji="1" lang="pt-BR" altLang="pt-BR" sz="2000" dirty="0">
              <a:latin typeface="Impact" panose="020B0806030902050204" pitchFamily="34" charset="0"/>
            </a:endParaRPr>
          </a:p>
          <a:p>
            <a:pPr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kumimoji="1" lang="pt-BR" altLang="pt-BR" sz="2000" dirty="0">
                <a:latin typeface="Impact" panose="020B0806030902050204" pitchFamily="34" charset="0"/>
              </a:rPr>
              <a:t>Server</a:t>
            </a:r>
          </a:p>
        </p:txBody>
      </p:sp>
      <p:sp>
        <p:nvSpPr>
          <p:cNvPr id="5141" name="Text Box 23">
            <a:extLst>
              <a:ext uri="{FF2B5EF4-FFF2-40B4-BE49-F238E27FC236}">
                <a16:creationId xmlns:a16="http://schemas.microsoft.com/office/drawing/2014/main" id="{22D8E629-8EC6-45AE-8849-B7D6D5B2E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1438" y="5319393"/>
            <a:ext cx="1168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kumimoji="1" lang="pt-BR" altLang="pt-BR" sz="2000" dirty="0" err="1">
                <a:latin typeface="Impact" panose="020B0806030902050204" pitchFamily="34" charset="0"/>
              </a:rPr>
              <a:t>Database</a:t>
            </a:r>
            <a:endParaRPr kumimoji="1" lang="pt-BR" altLang="pt-BR" sz="2000" dirty="0">
              <a:latin typeface="Impact" panose="020B0806030902050204" pitchFamily="34" charset="0"/>
            </a:endParaRPr>
          </a:p>
          <a:p>
            <a:pPr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kumimoji="1" lang="pt-BR" altLang="pt-BR" sz="2000" dirty="0">
                <a:latin typeface="Impact" panose="020B0806030902050204" pitchFamily="34" charset="0"/>
              </a:rPr>
              <a:t>Server</a:t>
            </a:r>
          </a:p>
        </p:txBody>
      </p:sp>
      <p:sp>
        <p:nvSpPr>
          <p:cNvPr id="5142" name="Rectangle 31">
            <a:extLst>
              <a:ext uri="{FF2B5EF4-FFF2-40B4-BE49-F238E27FC236}">
                <a16:creationId xmlns:a16="http://schemas.microsoft.com/office/drawing/2014/main" id="{A5D8D904-2B98-4A26-83CF-5CD2326F4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3538" y="4292600"/>
            <a:ext cx="2209800" cy="381000"/>
          </a:xfrm>
          <a:prstGeom prst="rect">
            <a:avLst/>
          </a:prstGeom>
          <a:solidFill>
            <a:schemeClr val="hlink"/>
          </a:solidFill>
          <a:ln w="9525">
            <a:miter lim="800000"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hlink"/>
            </a:extrusionClr>
            <a:contourClr>
              <a:schemeClr val="hlink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005C5C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400" b="1">
                <a:solidFill>
                  <a:srgbClr val="FFCCFF"/>
                </a:solidFill>
                <a:latin typeface="Century Gothic" panose="020B0502020202020204" pitchFamily="34" charset="0"/>
              </a:rPr>
              <a:t>DBF/CTREE</a:t>
            </a:r>
            <a:endParaRPr lang="en-US" altLang="pt-BR" sz="2400" b="1">
              <a:solidFill>
                <a:srgbClr val="FFCC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43" name="Rectangle 32">
            <a:extLst>
              <a:ext uri="{FF2B5EF4-FFF2-40B4-BE49-F238E27FC236}">
                <a16:creationId xmlns:a16="http://schemas.microsoft.com/office/drawing/2014/main" id="{9A95D1FA-54A3-4D14-9204-2C44E95BC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endParaRPr lang="pt-BR" altLang="pt-BR" sz="4000" b="1" i="1">
              <a:solidFill>
                <a:srgbClr val="CC0000"/>
              </a:solidFill>
              <a:latin typeface="Tahoma" panose="020B0604030504040204" pitchFamily="34" charset="0"/>
            </a:endParaRP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5200C88A-89D4-4FF5-8C50-7C940E9D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CONECTANDO OS SERVIÇOS</a:t>
            </a:r>
          </a:p>
        </p:txBody>
      </p:sp>
      <p:sp>
        <p:nvSpPr>
          <p:cNvPr id="26" name="Line 16">
            <a:extLst>
              <a:ext uri="{FF2B5EF4-FFF2-40B4-BE49-F238E27FC236}">
                <a16:creationId xmlns:a16="http://schemas.microsoft.com/office/drawing/2014/main" id="{E25B78E9-DB98-4C9E-8418-C4C35A3B63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6102" y="5055066"/>
            <a:ext cx="6314696" cy="0"/>
          </a:xfrm>
          <a:prstGeom prst="line">
            <a:avLst/>
          </a:prstGeom>
          <a:noFill/>
          <a:ln w="12700">
            <a:solidFill>
              <a:srgbClr val="FF9900"/>
            </a:solidFill>
            <a:round/>
            <a:headEnd/>
            <a:tailEnd/>
          </a:ln>
          <a:effectLst/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9900"/>
            </a:extrusionClr>
            <a:contourClr>
              <a:srgbClr val="FF99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995C00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/>
          </a:p>
        </p:txBody>
      </p:sp>
      <p:sp>
        <p:nvSpPr>
          <p:cNvPr id="27" name="Text Box 23">
            <a:extLst>
              <a:ext uri="{FF2B5EF4-FFF2-40B4-BE49-F238E27FC236}">
                <a16:creationId xmlns:a16="http://schemas.microsoft.com/office/drawing/2014/main" id="{787CE5F8-02BD-42EC-BA5B-739D06EC1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2208" y="4408910"/>
            <a:ext cx="11528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kumimoji="1" lang="pt-BR" altLang="pt-BR" sz="2000" dirty="0">
                <a:latin typeface="Impact" panose="020B0806030902050204" pitchFamily="34" charset="0"/>
              </a:rPr>
              <a:t>Conector</a:t>
            </a:r>
          </a:p>
        </p:txBody>
      </p:sp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8A492DA5-3665-40B7-9D10-FE1128FB8BAF}"/>
              </a:ext>
            </a:extLst>
          </p:cNvPr>
          <p:cNvSpPr/>
          <p:nvPr/>
        </p:nvSpPr>
        <p:spPr>
          <a:xfrm>
            <a:off x="2223083" y="2586038"/>
            <a:ext cx="268447" cy="27333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eta: para Cima 2">
            <a:extLst>
              <a:ext uri="{FF2B5EF4-FFF2-40B4-BE49-F238E27FC236}">
                <a16:creationId xmlns:a16="http://schemas.microsoft.com/office/drawing/2014/main" id="{D08F42DD-0D13-4803-979C-3332708E1445}"/>
              </a:ext>
            </a:extLst>
          </p:cNvPr>
          <p:cNvSpPr/>
          <p:nvPr/>
        </p:nvSpPr>
        <p:spPr>
          <a:xfrm>
            <a:off x="2894202" y="2586037"/>
            <a:ext cx="268447" cy="272382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71885E8-89A4-4750-B8BA-F852FCCFD71D}"/>
              </a:ext>
            </a:extLst>
          </p:cNvPr>
          <p:cNvSpPr txBox="1"/>
          <p:nvPr/>
        </p:nvSpPr>
        <p:spPr>
          <a:xfrm>
            <a:off x="2285999" y="2061433"/>
            <a:ext cx="876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Tráfego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97E4E-27E0-4EF2-B794-10F5DFED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INICIANDO 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1832B-1171-4AB0-9612-0CB3BE73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INICIANDO O SISTEMA		</a:t>
            </a:r>
          </a:p>
        </p:txBody>
      </p:sp>
    </p:spTree>
    <p:extLst>
      <p:ext uri="{BB962C8B-B14F-4D97-AF65-F5344CB8AC3E}">
        <p14:creationId xmlns:p14="http://schemas.microsoft.com/office/powerpoint/2010/main" val="274102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97E4E-27E0-4EF2-B794-10F5DFED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MATERIAL COMPLEMENTAR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1832B-1171-4AB0-9612-0CB3BE737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MATERIAL COMPLEMENTAR	</a:t>
            </a:r>
          </a:p>
        </p:txBody>
      </p:sp>
    </p:spTree>
    <p:extLst>
      <p:ext uri="{BB962C8B-B14F-4D97-AF65-F5344CB8AC3E}">
        <p14:creationId xmlns:p14="http://schemas.microsoft.com/office/powerpoint/2010/main" val="4180848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04945B-C472-4F38-8791-65FD0B620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6644652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472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5" baseType="lpstr">
      <vt:lpstr>Arial</vt:lpstr>
      <vt:lpstr>Calibri</vt:lpstr>
      <vt:lpstr>Calibri Light</vt:lpstr>
      <vt:lpstr>Century Gothic</vt:lpstr>
      <vt:lpstr>Impact</vt:lpstr>
      <vt:lpstr>Lucida Sans Unicode</vt:lpstr>
      <vt:lpstr>Monotype Sorts</vt:lpstr>
      <vt:lpstr>Tahoma</vt:lpstr>
      <vt:lpstr>Times New Roman</vt:lpstr>
      <vt:lpstr>Wingdings</vt:lpstr>
      <vt:lpstr>Tema do Office</vt:lpstr>
      <vt:lpstr>Instalação do PROTHEUS</vt:lpstr>
      <vt:lpstr>CONTEÚDO</vt:lpstr>
      <vt:lpstr>ARQUITETURA PROTHEUS</vt:lpstr>
      <vt:lpstr>DOWNLOADS DE ARQUIVOS</vt:lpstr>
      <vt:lpstr>CRIANDO OS DIRETORIOS</vt:lpstr>
      <vt:lpstr>INSTALANDO BANDO DE DADOS</vt:lpstr>
      <vt:lpstr>CONFIGURANDO ODBC 64</vt:lpstr>
      <vt:lpstr>INSTALANDO OS SERVIÇOS</vt:lpstr>
      <vt:lpstr>INSTALANDO OS SERVIÇOS</vt:lpstr>
      <vt:lpstr>CONECTANDO OS SERVIÇOS</vt:lpstr>
      <vt:lpstr>CONECTANDO OS SERVIÇOS</vt:lpstr>
      <vt:lpstr>INICIANDO O SISTEMA</vt:lpstr>
      <vt:lpstr>MATERIAL COMPLEMENTAR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Milton J.dos Santos</dc:creator>
  <cp:lastModifiedBy>Milton J.dos Santos</cp:lastModifiedBy>
  <cp:revision>13</cp:revision>
  <dcterms:created xsi:type="dcterms:W3CDTF">2021-10-14T22:55:11Z</dcterms:created>
  <dcterms:modified xsi:type="dcterms:W3CDTF">2023-08-17T20:15:39Z</dcterms:modified>
</cp:coreProperties>
</file>