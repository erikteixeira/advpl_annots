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7" r:id="rId9"/>
    <p:sldId id="266" r:id="rId10"/>
    <p:sldId id="265" r:id="rId11"/>
    <p:sldId id="268" r:id="rId12"/>
    <p:sldId id="258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93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5419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38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15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2149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46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829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62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720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785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579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CD3A5-46CC-443A-BFD1-DE50F81AE61F}" type="datetimeFigureOut">
              <a:rPr lang="pt-BR" smtClean="0"/>
              <a:t>19/11/2020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51DA8-EEA6-49CF-9307-FC5A6E52AAE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690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ERP Protheus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Autor: Milton</a:t>
            </a:r>
          </a:p>
          <a:p>
            <a:r>
              <a:rPr lang="pt-BR" dirty="0" smtClean="0"/>
              <a:t>Criação: 19/11/2020</a:t>
            </a:r>
          </a:p>
          <a:p>
            <a:r>
              <a:rPr lang="pt-BR" dirty="0" smtClean="0"/>
              <a:t>Ult. Atualização: 19/11/2020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7961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Objetivo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Demonstrar de forma simples como funciona o PROTHEUS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7865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ERP – Enterprise </a:t>
            </a:r>
            <a:r>
              <a:rPr lang="pt-BR" dirty="0" err="1" smtClean="0"/>
              <a:t>Resourse</a:t>
            </a:r>
            <a:r>
              <a:rPr lang="pt-BR" dirty="0" smtClean="0"/>
              <a:t> </a:t>
            </a:r>
            <a:r>
              <a:rPr lang="pt-BR" dirty="0" err="1" smtClean="0"/>
              <a:t>Planing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4634345" y="2982191"/>
            <a:ext cx="2192482" cy="20677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Software</a:t>
            </a:r>
          </a:p>
          <a:p>
            <a:pPr algn="ctr"/>
            <a:r>
              <a:rPr lang="pt-BR" dirty="0" smtClean="0"/>
              <a:t>ERP</a:t>
            </a:r>
            <a:endParaRPr lang="pt-BR" dirty="0"/>
          </a:p>
        </p:txBody>
      </p:sp>
      <p:sp>
        <p:nvSpPr>
          <p:cNvPr id="5" name="Elipse 4"/>
          <p:cNvSpPr/>
          <p:nvPr/>
        </p:nvSpPr>
        <p:spPr>
          <a:xfrm>
            <a:off x="3938156" y="2005445"/>
            <a:ext cx="1205345" cy="10910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FATURAMENTO</a:t>
            </a:r>
            <a:endParaRPr lang="pt-BR" sz="800" dirty="0"/>
          </a:p>
        </p:txBody>
      </p:sp>
      <p:sp>
        <p:nvSpPr>
          <p:cNvPr id="6" name="Elipse 5"/>
          <p:cNvSpPr/>
          <p:nvPr/>
        </p:nvSpPr>
        <p:spPr>
          <a:xfrm>
            <a:off x="6366162" y="2005445"/>
            <a:ext cx="1205345" cy="10910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Compras</a:t>
            </a:r>
            <a:endParaRPr lang="pt-BR" sz="800" dirty="0"/>
          </a:p>
        </p:txBody>
      </p:sp>
      <p:sp>
        <p:nvSpPr>
          <p:cNvPr id="7" name="Elipse 6"/>
          <p:cNvSpPr/>
          <p:nvPr/>
        </p:nvSpPr>
        <p:spPr>
          <a:xfrm>
            <a:off x="3938156" y="5046518"/>
            <a:ext cx="1205345" cy="10910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ESTOQUE</a:t>
            </a:r>
            <a:endParaRPr lang="pt-BR" sz="800" dirty="0"/>
          </a:p>
        </p:txBody>
      </p:sp>
      <p:sp>
        <p:nvSpPr>
          <p:cNvPr id="8" name="Elipse 7"/>
          <p:cNvSpPr/>
          <p:nvPr/>
        </p:nvSpPr>
        <p:spPr>
          <a:xfrm>
            <a:off x="2732811" y="3500004"/>
            <a:ext cx="1205345" cy="10910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RH</a:t>
            </a:r>
            <a:endParaRPr lang="pt-BR" dirty="0"/>
          </a:p>
        </p:txBody>
      </p:sp>
      <p:sp>
        <p:nvSpPr>
          <p:cNvPr id="9" name="Elipse 8"/>
          <p:cNvSpPr/>
          <p:nvPr/>
        </p:nvSpPr>
        <p:spPr>
          <a:xfrm>
            <a:off x="7342907" y="3472294"/>
            <a:ext cx="1205345" cy="10910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FINANCEIRO</a:t>
            </a:r>
            <a:endParaRPr lang="pt-BR" sz="800" dirty="0"/>
          </a:p>
        </p:txBody>
      </p:sp>
      <p:sp>
        <p:nvSpPr>
          <p:cNvPr id="10" name="Elipse 9"/>
          <p:cNvSpPr/>
          <p:nvPr/>
        </p:nvSpPr>
        <p:spPr>
          <a:xfrm>
            <a:off x="6366162" y="5046518"/>
            <a:ext cx="1205345" cy="10910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FISCAL</a:t>
            </a: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424346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Principal função do ERP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569027" y="2670464"/>
            <a:ext cx="2275609" cy="2057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Software </a:t>
            </a:r>
          </a:p>
          <a:p>
            <a:pPr algn="ctr"/>
            <a:r>
              <a:rPr lang="pt-BR" dirty="0" smtClean="0"/>
              <a:t>ERP</a:t>
            </a:r>
            <a:endParaRPr lang="pt-BR" dirty="0"/>
          </a:p>
        </p:txBody>
      </p:sp>
      <p:sp>
        <p:nvSpPr>
          <p:cNvPr id="5" name="Seta dobrada 4"/>
          <p:cNvSpPr/>
          <p:nvPr/>
        </p:nvSpPr>
        <p:spPr>
          <a:xfrm rot="5400000">
            <a:off x="4468092" y="3273137"/>
            <a:ext cx="1278081" cy="1184564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Fluxograma: Disco magnético 5"/>
          <p:cNvSpPr/>
          <p:nvPr/>
        </p:nvSpPr>
        <p:spPr>
          <a:xfrm>
            <a:off x="3938155" y="4727864"/>
            <a:ext cx="3023754" cy="163137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8" name="Retângulo de cantos arredondados 7"/>
          <p:cNvSpPr/>
          <p:nvPr/>
        </p:nvSpPr>
        <p:spPr>
          <a:xfrm>
            <a:off x="6670964" y="2683020"/>
            <a:ext cx="3138054" cy="14755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Validar as informações antes de salvar no banco de dados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691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validar a informação ?</a:t>
            </a:r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569027" y="2670464"/>
            <a:ext cx="2275609" cy="2057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Software </a:t>
            </a:r>
          </a:p>
          <a:p>
            <a:pPr algn="ctr"/>
            <a:r>
              <a:rPr lang="pt-BR" dirty="0" smtClean="0"/>
              <a:t>ERP</a:t>
            </a:r>
            <a:endParaRPr lang="pt-BR" dirty="0"/>
          </a:p>
        </p:txBody>
      </p:sp>
      <p:sp>
        <p:nvSpPr>
          <p:cNvPr id="6" name="Fluxograma: Disco magnético 5"/>
          <p:cNvSpPr/>
          <p:nvPr/>
        </p:nvSpPr>
        <p:spPr>
          <a:xfrm>
            <a:off x="7304810" y="4727864"/>
            <a:ext cx="3023754" cy="1631373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7" name="Seta dobrada 6"/>
          <p:cNvSpPr/>
          <p:nvPr/>
        </p:nvSpPr>
        <p:spPr>
          <a:xfrm rot="5400000" flipH="1">
            <a:off x="4475884" y="2896466"/>
            <a:ext cx="483177" cy="1517073"/>
          </a:xfrm>
          <a:prstGeom prst="bentArrow">
            <a:avLst>
              <a:gd name="adj1" fmla="val 25000"/>
              <a:gd name="adj2" fmla="val 22807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291445" y="2265218"/>
            <a:ext cx="2275610" cy="852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Memória RAM</a:t>
            </a:r>
            <a:endParaRPr lang="pt-BR" dirty="0"/>
          </a:p>
        </p:txBody>
      </p:sp>
      <p:sp>
        <p:nvSpPr>
          <p:cNvPr id="9" name="Fluxograma: Processo predefinido 8"/>
          <p:cNvSpPr/>
          <p:nvPr/>
        </p:nvSpPr>
        <p:spPr>
          <a:xfrm>
            <a:off x="7564583" y="2265218"/>
            <a:ext cx="2504209" cy="852055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PROCESSA</a:t>
            </a:r>
            <a:endParaRPr lang="pt-BR" dirty="0"/>
          </a:p>
        </p:txBody>
      </p:sp>
      <p:sp>
        <p:nvSpPr>
          <p:cNvPr id="10" name="Seta para baixo 9"/>
          <p:cNvSpPr/>
          <p:nvPr/>
        </p:nvSpPr>
        <p:spPr>
          <a:xfrm>
            <a:off x="8478982" y="3460173"/>
            <a:ext cx="654627" cy="9559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 para a direita 10"/>
          <p:cNvSpPr/>
          <p:nvPr/>
        </p:nvSpPr>
        <p:spPr>
          <a:xfrm>
            <a:off x="6712527" y="2462645"/>
            <a:ext cx="592283" cy="4883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3844636" y="1839191"/>
            <a:ext cx="6909955" cy="1517073"/>
          </a:xfrm>
          <a:prstGeom prst="roundRect">
            <a:avLst/>
          </a:prstGeom>
          <a:noFill/>
          <a:ln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/>
          <p:cNvSpPr txBox="1"/>
          <p:nvPr/>
        </p:nvSpPr>
        <p:spPr>
          <a:xfrm>
            <a:off x="6592528" y="1872733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Validar</a:t>
            </a:r>
            <a:endParaRPr lang="pt-BR" dirty="0"/>
          </a:p>
        </p:txBody>
      </p:sp>
      <p:sp>
        <p:nvSpPr>
          <p:cNvPr id="15" name="Seta dobrada 14"/>
          <p:cNvSpPr/>
          <p:nvPr/>
        </p:nvSpPr>
        <p:spPr>
          <a:xfrm rot="16200000">
            <a:off x="4545805" y="3096275"/>
            <a:ext cx="556346" cy="4369379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26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Onde são salvas ?</a:t>
            </a:r>
            <a:endParaRPr lang="pt-BR" dirty="0"/>
          </a:p>
        </p:txBody>
      </p:sp>
      <p:sp>
        <p:nvSpPr>
          <p:cNvPr id="4" name="Fluxograma: Disco magnético 3"/>
          <p:cNvSpPr/>
          <p:nvPr/>
        </p:nvSpPr>
        <p:spPr>
          <a:xfrm>
            <a:off x="1340427" y="3002973"/>
            <a:ext cx="2524991" cy="238990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Banco de Dados</a:t>
            </a:r>
            <a:endParaRPr lang="pt-BR" dirty="0"/>
          </a:p>
        </p:txBody>
      </p:sp>
      <p:grpSp>
        <p:nvGrpSpPr>
          <p:cNvPr id="10" name="Grupo 9"/>
          <p:cNvGrpSpPr/>
          <p:nvPr/>
        </p:nvGrpSpPr>
        <p:grpSpPr>
          <a:xfrm>
            <a:off x="5351318" y="3106882"/>
            <a:ext cx="1631373" cy="2119745"/>
            <a:chOff x="5351318" y="3106882"/>
            <a:chExt cx="1631373" cy="2119745"/>
          </a:xfrm>
        </p:grpSpPr>
        <p:sp>
          <p:nvSpPr>
            <p:cNvPr id="7" name="Retângulo 6"/>
            <p:cNvSpPr/>
            <p:nvPr/>
          </p:nvSpPr>
          <p:spPr>
            <a:xfrm>
              <a:off x="5351318" y="3106882"/>
              <a:ext cx="1631373" cy="21197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5351318" y="3106882"/>
              <a:ext cx="1631373" cy="5299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TABELAS</a:t>
              </a:r>
              <a:endParaRPr lang="pt-BR" dirty="0"/>
            </a:p>
          </p:txBody>
        </p:sp>
      </p:grpSp>
      <p:sp>
        <p:nvSpPr>
          <p:cNvPr id="9" name="Seta para a direita 8"/>
          <p:cNvSpPr/>
          <p:nvPr/>
        </p:nvSpPr>
        <p:spPr>
          <a:xfrm>
            <a:off x="4073236" y="3761509"/>
            <a:ext cx="945573" cy="7585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338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são compostas as tabelas ?</a:t>
            </a:r>
            <a:endParaRPr lang="pt-BR" dirty="0"/>
          </a:p>
        </p:txBody>
      </p:sp>
      <p:grpSp>
        <p:nvGrpSpPr>
          <p:cNvPr id="10" name="Grupo 9"/>
          <p:cNvGrpSpPr/>
          <p:nvPr/>
        </p:nvGrpSpPr>
        <p:grpSpPr>
          <a:xfrm>
            <a:off x="1620982" y="2857500"/>
            <a:ext cx="1631373" cy="2119745"/>
            <a:chOff x="5351318" y="3106882"/>
            <a:chExt cx="1631373" cy="2119745"/>
          </a:xfrm>
        </p:grpSpPr>
        <p:sp>
          <p:nvSpPr>
            <p:cNvPr id="7" name="Retângulo 6"/>
            <p:cNvSpPr/>
            <p:nvPr/>
          </p:nvSpPr>
          <p:spPr>
            <a:xfrm>
              <a:off x="5351318" y="3106882"/>
              <a:ext cx="1631373" cy="21197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etângulo 7"/>
            <p:cNvSpPr/>
            <p:nvPr/>
          </p:nvSpPr>
          <p:spPr>
            <a:xfrm>
              <a:off x="5351318" y="3106882"/>
              <a:ext cx="1631373" cy="5299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TABELAS</a:t>
              </a:r>
              <a:endParaRPr lang="pt-BR" dirty="0"/>
            </a:p>
          </p:txBody>
        </p:sp>
      </p:grpSp>
      <p:sp>
        <p:nvSpPr>
          <p:cNvPr id="3" name="Retângulo 2"/>
          <p:cNvSpPr/>
          <p:nvPr/>
        </p:nvSpPr>
        <p:spPr>
          <a:xfrm>
            <a:off x="4977249" y="3823856"/>
            <a:ext cx="6158342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4970324" y="5309758"/>
            <a:ext cx="6158342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smtClean="0"/>
              <a:t>REGISTRO 1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4977249" y="3823856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CAMPO 1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6522031" y="3823856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CAMPO 2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8066813" y="3823856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CAMPO 3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9684331" y="3823856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CAMPO 4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4911444" y="2871118"/>
            <a:ext cx="1899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Campos = Colunas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2197904" y="5488773"/>
            <a:ext cx="1851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Registros = Linhas</a:t>
            </a:r>
            <a:endParaRPr lang="pt-BR" dirty="0"/>
          </a:p>
        </p:txBody>
      </p:sp>
      <p:sp>
        <p:nvSpPr>
          <p:cNvPr id="17" name="Seta para baixo 16"/>
          <p:cNvSpPr/>
          <p:nvPr/>
        </p:nvSpPr>
        <p:spPr>
          <a:xfrm>
            <a:off x="5434445" y="3304311"/>
            <a:ext cx="478957" cy="4156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 para baixo 17"/>
          <p:cNvSpPr/>
          <p:nvPr/>
        </p:nvSpPr>
        <p:spPr>
          <a:xfrm>
            <a:off x="6991973" y="3292405"/>
            <a:ext cx="478957" cy="4156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 para baixo 18"/>
          <p:cNvSpPr/>
          <p:nvPr/>
        </p:nvSpPr>
        <p:spPr>
          <a:xfrm>
            <a:off x="8549502" y="3292405"/>
            <a:ext cx="478957" cy="4156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baixo 19"/>
          <p:cNvSpPr/>
          <p:nvPr/>
        </p:nvSpPr>
        <p:spPr>
          <a:xfrm>
            <a:off x="10107031" y="3304311"/>
            <a:ext cx="478957" cy="4156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 para a direita 20"/>
          <p:cNvSpPr/>
          <p:nvPr/>
        </p:nvSpPr>
        <p:spPr>
          <a:xfrm>
            <a:off x="4229101" y="5403274"/>
            <a:ext cx="477982" cy="5403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415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são criadas as tabelas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Passos:</a:t>
            </a:r>
          </a:p>
          <a:p>
            <a:pPr marL="457200" lvl="1" indent="0">
              <a:buNone/>
            </a:pPr>
            <a:r>
              <a:rPr lang="pt-BR" dirty="0" smtClean="0"/>
              <a:t>1. Criar estrutura da tabela (Básico: SX2, SX3 e SIX);</a:t>
            </a:r>
          </a:p>
          <a:p>
            <a:pPr marL="457200" lvl="1" indent="0">
              <a:buNone/>
            </a:pPr>
            <a:r>
              <a:rPr lang="pt-BR" dirty="0" smtClean="0"/>
              <a:t>2. Criar a tabela ( fazer o primeiro acesso a tabela)</a:t>
            </a:r>
          </a:p>
          <a:p>
            <a:pPr marL="457200" lvl="1" indent="0">
              <a:buNone/>
            </a:pPr>
            <a:r>
              <a:rPr lang="pt-BR" dirty="0" smtClean="0"/>
              <a:t>3. Popular a tabela (incluir registros)</a:t>
            </a:r>
          </a:p>
          <a:p>
            <a:pPr marL="457200" lvl="1" indent="0">
              <a:buNone/>
            </a:pPr>
            <a:r>
              <a:rPr lang="pt-BR" dirty="0" smtClean="0"/>
              <a:t>4. Manutenção da tabela ( alterar ou excluir)</a:t>
            </a:r>
          </a:p>
          <a:p>
            <a:endParaRPr lang="pt-BR" dirty="0" smtClean="0"/>
          </a:p>
          <a:p>
            <a:r>
              <a:rPr lang="pt-BR" dirty="0" smtClean="0"/>
              <a:t>Protheus tem um dicionário de dados para toda tabela.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1556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é criada a estrutura e a tabela?</a:t>
            </a:r>
            <a:endParaRPr lang="pt-BR" dirty="0"/>
          </a:p>
        </p:txBody>
      </p:sp>
      <p:grpSp>
        <p:nvGrpSpPr>
          <p:cNvPr id="4" name="Grupo 3"/>
          <p:cNvGrpSpPr/>
          <p:nvPr/>
        </p:nvGrpSpPr>
        <p:grpSpPr>
          <a:xfrm>
            <a:off x="9268691" y="3002973"/>
            <a:ext cx="1631373" cy="2119745"/>
            <a:chOff x="5351318" y="3106882"/>
            <a:chExt cx="1631373" cy="2119745"/>
          </a:xfrm>
        </p:grpSpPr>
        <p:sp>
          <p:nvSpPr>
            <p:cNvPr id="5" name="Retângulo 4"/>
            <p:cNvSpPr/>
            <p:nvPr/>
          </p:nvSpPr>
          <p:spPr>
            <a:xfrm>
              <a:off x="5351318" y="3106882"/>
              <a:ext cx="1631373" cy="21197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5351318" y="3106882"/>
              <a:ext cx="1631373" cy="5299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TABELAS</a:t>
              </a:r>
              <a:endParaRPr lang="pt-BR" dirty="0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707577" y="1908444"/>
            <a:ext cx="159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DbSelectArea</a:t>
            </a:r>
            <a:r>
              <a:rPr lang="pt-BR" dirty="0" smtClean="0"/>
              <a:t>()</a:t>
            </a:r>
            <a:endParaRPr lang="pt-BR" dirty="0"/>
          </a:p>
        </p:txBody>
      </p:sp>
      <p:cxnSp>
        <p:nvCxnSpPr>
          <p:cNvPr id="9" name="Conector reto 8"/>
          <p:cNvCxnSpPr/>
          <p:nvPr/>
        </p:nvCxnSpPr>
        <p:spPr>
          <a:xfrm>
            <a:off x="8146473" y="1870364"/>
            <a:ext cx="0" cy="4561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/>
          <p:cNvSpPr/>
          <p:nvPr/>
        </p:nvSpPr>
        <p:spPr>
          <a:xfrm>
            <a:off x="1163785" y="4208323"/>
            <a:ext cx="6158342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1163785" y="4208323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A1_FILIAL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2708567" y="4208323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A1_COD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4253349" y="4208323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A1_NOME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5870867" y="4208323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A1_CNPJ</a:t>
            </a:r>
            <a:endParaRPr lang="pt-BR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1163785" y="3719949"/>
            <a:ext cx="2651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SX3 – CAMPOS DA TABELA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1156861" y="2836720"/>
            <a:ext cx="6158342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smtClean="0"/>
              <a:t>SA1 - CLIENTES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1156861" y="2348346"/>
            <a:ext cx="24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SX2 – NOME DA TABELA</a:t>
            </a:r>
            <a:endParaRPr lang="pt-BR" dirty="0"/>
          </a:p>
        </p:txBody>
      </p:sp>
      <p:sp>
        <p:nvSpPr>
          <p:cNvPr id="33" name="Retângulo 32"/>
          <p:cNvSpPr/>
          <p:nvPr/>
        </p:nvSpPr>
        <p:spPr>
          <a:xfrm>
            <a:off x="1174178" y="5524502"/>
            <a:ext cx="6158342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smtClean="0"/>
              <a:t>A1_FILIAL + A1_COD </a:t>
            </a:r>
          </a:p>
          <a:p>
            <a:r>
              <a:rPr lang="pt-BR" dirty="0" smtClean="0"/>
              <a:t>A1_FILIAL + A1_NOME </a:t>
            </a:r>
            <a:endParaRPr lang="pt-BR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1174178" y="5036128"/>
            <a:ext cx="2509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SIX – INDICES DA TABELA</a:t>
            </a:r>
            <a:endParaRPr lang="pt-BR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1077197" y="1894588"/>
            <a:ext cx="240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SIGACFG - Configurador</a:t>
            </a:r>
            <a:endParaRPr lang="pt-BR" dirty="0"/>
          </a:p>
        </p:txBody>
      </p:sp>
      <p:sp>
        <p:nvSpPr>
          <p:cNvPr id="41" name="Seta para a direita 40"/>
          <p:cNvSpPr/>
          <p:nvPr/>
        </p:nvSpPr>
        <p:spPr>
          <a:xfrm>
            <a:off x="7803573" y="3532909"/>
            <a:ext cx="976745" cy="1143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Fluxograma: Disco magnético 41"/>
          <p:cNvSpPr/>
          <p:nvPr/>
        </p:nvSpPr>
        <p:spPr>
          <a:xfrm>
            <a:off x="10569529" y="4651035"/>
            <a:ext cx="1252103" cy="150884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43" name="Elipse 42"/>
          <p:cNvSpPr/>
          <p:nvPr/>
        </p:nvSpPr>
        <p:spPr>
          <a:xfrm>
            <a:off x="5697685" y="1776845"/>
            <a:ext cx="895350" cy="7561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1º</a:t>
            </a:r>
            <a:endParaRPr lang="pt-BR" dirty="0"/>
          </a:p>
        </p:txBody>
      </p:sp>
      <p:sp>
        <p:nvSpPr>
          <p:cNvPr id="44" name="Elipse 43"/>
          <p:cNvSpPr/>
          <p:nvPr/>
        </p:nvSpPr>
        <p:spPr>
          <a:xfrm>
            <a:off x="11036612" y="1855631"/>
            <a:ext cx="895350" cy="7561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2º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5242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acesso pelo SDU as informações ?</a:t>
            </a:r>
            <a:endParaRPr lang="pt-BR" dirty="0"/>
          </a:p>
        </p:txBody>
      </p:sp>
      <p:grpSp>
        <p:nvGrpSpPr>
          <p:cNvPr id="4" name="Grupo 3"/>
          <p:cNvGrpSpPr/>
          <p:nvPr/>
        </p:nvGrpSpPr>
        <p:grpSpPr>
          <a:xfrm>
            <a:off x="9268691" y="3002973"/>
            <a:ext cx="1631373" cy="2119745"/>
            <a:chOff x="5351318" y="3106882"/>
            <a:chExt cx="1631373" cy="2119745"/>
          </a:xfrm>
        </p:grpSpPr>
        <p:sp>
          <p:nvSpPr>
            <p:cNvPr id="5" name="Retângulo 4"/>
            <p:cNvSpPr/>
            <p:nvPr/>
          </p:nvSpPr>
          <p:spPr>
            <a:xfrm>
              <a:off x="5351318" y="3106882"/>
              <a:ext cx="1631373" cy="21197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5351318" y="3106882"/>
              <a:ext cx="1631373" cy="5299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TABELAS</a:t>
              </a:r>
              <a:endParaRPr lang="pt-BR" dirty="0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8707577" y="1908444"/>
            <a:ext cx="2215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 smtClean="0"/>
              <a:t>TopConnect</a:t>
            </a:r>
            <a:r>
              <a:rPr lang="pt-BR" dirty="0" smtClean="0"/>
              <a:t> – Tabelas</a:t>
            </a:r>
            <a:endParaRPr lang="pt-BR" dirty="0"/>
          </a:p>
        </p:txBody>
      </p:sp>
      <p:cxnSp>
        <p:nvCxnSpPr>
          <p:cNvPr id="9" name="Conector reto 8"/>
          <p:cNvCxnSpPr/>
          <p:nvPr/>
        </p:nvCxnSpPr>
        <p:spPr>
          <a:xfrm>
            <a:off x="8146473" y="1870364"/>
            <a:ext cx="0" cy="45616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 9"/>
          <p:cNvSpPr/>
          <p:nvPr/>
        </p:nvSpPr>
        <p:spPr>
          <a:xfrm>
            <a:off x="1163785" y="4208323"/>
            <a:ext cx="6158342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1163785" y="4208323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A1_FILIAL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2708567" y="4208323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A1_COD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4253349" y="4208323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A1_NOME</a:t>
            </a:r>
            <a:endParaRPr lang="pt-BR" dirty="0"/>
          </a:p>
        </p:txBody>
      </p:sp>
      <p:sp>
        <p:nvSpPr>
          <p:cNvPr id="14" name="Retângulo 13"/>
          <p:cNvSpPr/>
          <p:nvPr/>
        </p:nvSpPr>
        <p:spPr>
          <a:xfrm>
            <a:off x="5870867" y="4208323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A1_CNPJ</a:t>
            </a:r>
            <a:endParaRPr lang="pt-BR" dirty="0"/>
          </a:p>
        </p:txBody>
      </p:sp>
      <p:sp>
        <p:nvSpPr>
          <p:cNvPr id="20" name="CaixaDeTexto 19"/>
          <p:cNvSpPr txBox="1"/>
          <p:nvPr/>
        </p:nvSpPr>
        <p:spPr>
          <a:xfrm>
            <a:off x="1163785" y="3719949"/>
            <a:ext cx="2651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SX3 – CAMPOS DA TABELA</a:t>
            </a:r>
            <a:endParaRPr lang="pt-BR" dirty="0"/>
          </a:p>
        </p:txBody>
      </p:sp>
      <p:sp>
        <p:nvSpPr>
          <p:cNvPr id="21" name="Retângulo 20"/>
          <p:cNvSpPr/>
          <p:nvPr/>
        </p:nvSpPr>
        <p:spPr>
          <a:xfrm>
            <a:off x="1156861" y="2836720"/>
            <a:ext cx="6158342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smtClean="0"/>
              <a:t>SA1 - CLIENTES</a:t>
            </a:r>
            <a:endParaRPr lang="pt-BR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1156861" y="2348346"/>
            <a:ext cx="2431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SX2 – NOME DA TABELA</a:t>
            </a:r>
            <a:endParaRPr lang="pt-BR" dirty="0"/>
          </a:p>
        </p:txBody>
      </p:sp>
      <p:sp>
        <p:nvSpPr>
          <p:cNvPr id="33" name="Retângulo 32"/>
          <p:cNvSpPr/>
          <p:nvPr/>
        </p:nvSpPr>
        <p:spPr>
          <a:xfrm>
            <a:off x="1174178" y="5524502"/>
            <a:ext cx="6158342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dirty="0" smtClean="0"/>
              <a:t>A1_FILIAL + A1_COD </a:t>
            </a:r>
          </a:p>
          <a:p>
            <a:r>
              <a:rPr lang="pt-BR" dirty="0" smtClean="0"/>
              <a:t>A1_FILIAL + A1_NOME </a:t>
            </a:r>
            <a:endParaRPr lang="pt-BR" dirty="0"/>
          </a:p>
        </p:txBody>
      </p:sp>
      <p:sp>
        <p:nvSpPr>
          <p:cNvPr id="38" name="CaixaDeTexto 37"/>
          <p:cNvSpPr txBox="1"/>
          <p:nvPr/>
        </p:nvSpPr>
        <p:spPr>
          <a:xfrm>
            <a:off x="1174178" y="5036128"/>
            <a:ext cx="2509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SIX – INDICES DA TABELA</a:t>
            </a:r>
            <a:endParaRPr lang="pt-BR" dirty="0"/>
          </a:p>
        </p:txBody>
      </p:sp>
      <p:sp>
        <p:nvSpPr>
          <p:cNvPr id="39" name="CaixaDeTexto 38"/>
          <p:cNvSpPr txBox="1"/>
          <p:nvPr/>
        </p:nvSpPr>
        <p:spPr>
          <a:xfrm>
            <a:off x="1077197" y="1894588"/>
            <a:ext cx="298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C-</a:t>
            </a:r>
            <a:r>
              <a:rPr lang="pt-BR" dirty="0" err="1" smtClean="0"/>
              <a:t>Tree</a:t>
            </a:r>
            <a:r>
              <a:rPr lang="pt-BR" dirty="0" smtClean="0"/>
              <a:t> = Dicionários de Dados</a:t>
            </a:r>
            <a:endParaRPr lang="pt-BR" dirty="0"/>
          </a:p>
        </p:txBody>
      </p:sp>
      <p:sp>
        <p:nvSpPr>
          <p:cNvPr id="41" name="Seta para a direita 40"/>
          <p:cNvSpPr/>
          <p:nvPr/>
        </p:nvSpPr>
        <p:spPr>
          <a:xfrm>
            <a:off x="7803573" y="3532909"/>
            <a:ext cx="976745" cy="1143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Fluxograma: Disco magnético 41"/>
          <p:cNvSpPr/>
          <p:nvPr/>
        </p:nvSpPr>
        <p:spPr>
          <a:xfrm>
            <a:off x="10569529" y="4651035"/>
            <a:ext cx="1252103" cy="1508849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43" name="Elipse 42"/>
          <p:cNvSpPr/>
          <p:nvPr/>
        </p:nvSpPr>
        <p:spPr>
          <a:xfrm>
            <a:off x="5697685" y="1776845"/>
            <a:ext cx="895350" cy="7561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1º</a:t>
            </a:r>
            <a:endParaRPr lang="pt-BR" dirty="0"/>
          </a:p>
        </p:txBody>
      </p:sp>
      <p:sp>
        <p:nvSpPr>
          <p:cNvPr id="44" name="Elipse 43"/>
          <p:cNvSpPr/>
          <p:nvPr/>
        </p:nvSpPr>
        <p:spPr>
          <a:xfrm>
            <a:off x="11036612" y="1855631"/>
            <a:ext cx="895350" cy="7561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2º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07058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Onde coloco as regras da tabela ?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1153394" y="2098967"/>
            <a:ext cx="2651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SX3 – CAMPOS DA TABELA</a:t>
            </a:r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1183006" y="2876578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A1_FILIAL</a:t>
            </a:r>
            <a:endParaRPr lang="pt-BR" dirty="0"/>
          </a:p>
        </p:txBody>
      </p:sp>
      <p:sp>
        <p:nvSpPr>
          <p:cNvPr id="11" name="Retângulo 10"/>
          <p:cNvSpPr/>
          <p:nvPr/>
        </p:nvSpPr>
        <p:spPr>
          <a:xfrm>
            <a:off x="1176082" y="3773231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A1_COD</a:t>
            </a:r>
            <a:endParaRPr lang="pt-BR" dirty="0"/>
          </a:p>
        </p:txBody>
      </p:sp>
      <p:sp>
        <p:nvSpPr>
          <p:cNvPr id="12" name="Retângulo 11"/>
          <p:cNvSpPr/>
          <p:nvPr/>
        </p:nvSpPr>
        <p:spPr>
          <a:xfrm>
            <a:off x="1153394" y="4669884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A1_NOME</a:t>
            </a:r>
            <a:endParaRPr lang="pt-BR" dirty="0"/>
          </a:p>
        </p:txBody>
      </p:sp>
      <p:sp>
        <p:nvSpPr>
          <p:cNvPr id="13" name="Retângulo 12"/>
          <p:cNvSpPr/>
          <p:nvPr/>
        </p:nvSpPr>
        <p:spPr>
          <a:xfrm>
            <a:off x="1153394" y="5535790"/>
            <a:ext cx="1444336" cy="72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A1_CNPJ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>
            <a:off x="3023755" y="4021281"/>
            <a:ext cx="2996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Somente números sequencias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3041073" y="4869872"/>
            <a:ext cx="210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Somente maiúsculas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3023755" y="5714806"/>
            <a:ext cx="2227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Somente CNPJ válidos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8308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2992581"/>
            <a:ext cx="10515600" cy="31843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6000" dirty="0" smtClean="0"/>
              <a:t>FIM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41735478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286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ERP Protheus</vt:lpstr>
      <vt:lpstr>Objetivo </vt:lpstr>
      <vt:lpstr>ERP – Enterprise Resourse Planing</vt:lpstr>
      <vt:lpstr>Principal função do ERP</vt:lpstr>
      <vt:lpstr>Como validar a informação ?</vt:lpstr>
      <vt:lpstr>Onde são salvas ?</vt:lpstr>
      <vt:lpstr>Como são compostas as tabelas ?</vt:lpstr>
      <vt:lpstr>Como são criadas as tabelas ?</vt:lpstr>
      <vt:lpstr>Como é criada a estrutura e a tabela?</vt:lpstr>
      <vt:lpstr>Como acesso pelo SDU as informações ?</vt:lpstr>
      <vt:lpstr>Onde coloco as regras da tabela ?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Protheus</dc:title>
  <dc:creator>Milton J.dos Santos</dc:creator>
  <cp:lastModifiedBy>Milton J.dos Santos</cp:lastModifiedBy>
  <cp:revision>13</cp:revision>
  <dcterms:created xsi:type="dcterms:W3CDTF">2020-11-20T02:18:16Z</dcterms:created>
  <dcterms:modified xsi:type="dcterms:W3CDTF">2020-11-20T03:34:46Z</dcterms:modified>
</cp:coreProperties>
</file>