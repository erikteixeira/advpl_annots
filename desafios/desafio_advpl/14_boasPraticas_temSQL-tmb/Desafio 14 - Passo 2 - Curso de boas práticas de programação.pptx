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0.xml" ContentType="application/vnd.openxmlformats-officedocument.themeOverride+xml"/>
  <Override PartName="/ppt/theme/themeOverride31.xml" ContentType="application/vnd.openxmlformats-officedocument.themeOverride+xml"/>
  <Override PartName="/ppt/theme/themeOverride32.xml" ContentType="application/vnd.openxmlformats-officedocument.themeOverride+xml"/>
  <Override PartName="/ppt/theme/themeOverride33.xml" ContentType="application/vnd.openxmlformats-officedocument.themeOverride+xml"/>
  <Override PartName="/ppt/theme/themeOverride34.xml" ContentType="application/vnd.openxmlformats-officedocument.themeOverride+xml"/>
  <Override PartName="/ppt/theme/themeOverride35.xml" ContentType="application/vnd.openxmlformats-officedocument.themeOverride+xml"/>
  <Override PartName="/ppt/theme/themeOverride36.xml" ContentType="application/vnd.openxmlformats-officedocument.themeOverride+xml"/>
  <Override PartName="/ppt/theme/themeOverride37.xml" ContentType="application/vnd.openxmlformats-officedocument.themeOverride+xml"/>
  <Override PartName="/ppt/theme/themeOverride38.xml" ContentType="application/vnd.openxmlformats-officedocument.themeOverride+xml"/>
  <Override PartName="/ppt/theme/themeOverride39.xml" ContentType="application/vnd.openxmlformats-officedocument.themeOverride+xml"/>
  <Override PartName="/ppt/theme/themeOverride40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9"/>
  </p:notesMasterIdLst>
  <p:sldIdLst>
    <p:sldId id="292" r:id="rId2"/>
    <p:sldId id="298" r:id="rId3"/>
    <p:sldId id="330" r:id="rId4"/>
    <p:sldId id="339" r:id="rId5"/>
    <p:sldId id="341" r:id="rId6"/>
    <p:sldId id="342" r:id="rId7"/>
    <p:sldId id="343" r:id="rId8"/>
    <p:sldId id="340" r:id="rId9"/>
    <p:sldId id="345" r:id="rId10"/>
    <p:sldId id="344" r:id="rId11"/>
    <p:sldId id="346" r:id="rId12"/>
    <p:sldId id="347" r:id="rId13"/>
    <p:sldId id="348" r:id="rId14"/>
    <p:sldId id="349" r:id="rId15"/>
    <p:sldId id="350" r:id="rId16"/>
    <p:sldId id="334" r:id="rId17"/>
    <p:sldId id="351" r:id="rId18"/>
    <p:sldId id="352" r:id="rId19"/>
    <p:sldId id="353" r:id="rId20"/>
    <p:sldId id="354" r:id="rId21"/>
    <p:sldId id="355" r:id="rId22"/>
    <p:sldId id="356" r:id="rId23"/>
    <p:sldId id="357" r:id="rId24"/>
    <p:sldId id="358" r:id="rId25"/>
    <p:sldId id="359" r:id="rId26"/>
    <p:sldId id="360" r:id="rId27"/>
    <p:sldId id="365" r:id="rId28"/>
    <p:sldId id="362" r:id="rId29"/>
    <p:sldId id="363" r:id="rId30"/>
    <p:sldId id="364" r:id="rId31"/>
    <p:sldId id="361" r:id="rId32"/>
    <p:sldId id="366" r:id="rId33"/>
    <p:sldId id="367" r:id="rId34"/>
    <p:sldId id="368" r:id="rId35"/>
    <p:sldId id="369" r:id="rId36"/>
    <p:sldId id="379" r:id="rId37"/>
    <p:sldId id="370" r:id="rId38"/>
    <p:sldId id="371" r:id="rId39"/>
    <p:sldId id="372" r:id="rId40"/>
    <p:sldId id="373" r:id="rId41"/>
    <p:sldId id="374" r:id="rId42"/>
    <p:sldId id="380" r:id="rId43"/>
    <p:sldId id="381" r:id="rId44"/>
    <p:sldId id="375" r:id="rId45"/>
    <p:sldId id="376" r:id="rId46"/>
    <p:sldId id="377" r:id="rId47"/>
    <p:sldId id="299" r:id="rId48"/>
  </p:sldIdLst>
  <p:sldSz cx="9144000" cy="6858000" type="screen4x3"/>
  <p:notesSz cx="6858000" cy="9144000"/>
  <p:custDataLst>
    <p:tags r:id="rId50"/>
  </p:custDataLst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339966"/>
    <a:srgbClr val="0066FF"/>
    <a:srgbClr val="3366FF"/>
    <a:srgbClr val="00CC99"/>
    <a:srgbClr val="00FFCC"/>
    <a:srgbClr val="E5053A"/>
    <a:srgbClr val="F963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7" autoAdjust="0"/>
    <p:restoredTop sz="94660"/>
  </p:normalViewPr>
  <p:slideViewPr>
    <p:cSldViewPr>
      <p:cViewPr varScale="1">
        <p:scale>
          <a:sx n="105" d="100"/>
          <a:sy n="105" d="100"/>
        </p:scale>
        <p:origin x="192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4D63ACA-81DA-45DE-B35F-4EA018B216F5}" type="datetimeFigureOut">
              <a:rPr lang="pt-BR"/>
              <a:pPr>
                <a:defRPr/>
              </a:pPr>
              <a:t>11/03/2024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1F88504-38B7-466A-A3EB-96BBB7DEE0E1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../../../totvs.mp3" TargetMode="External"/><Relationship Id="rId2" Type="http://schemas.openxmlformats.org/officeDocument/2006/relationships/hyperlink" Target="http://www.totvs.com.br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214807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71462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7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143108" y="214290"/>
            <a:ext cx="5786478" cy="500066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4078F-17F8-430B-9D17-931D005698B7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hlinkClick r:id="rId2" highlightClick="1"/>
          </p:cNvPr>
          <p:cNvSpPr/>
          <p:nvPr/>
        </p:nvSpPr>
        <p:spPr>
          <a:xfrm>
            <a:off x="7500938" y="180975"/>
            <a:ext cx="285750" cy="24765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/>
          </a:p>
        </p:txBody>
      </p:sp>
      <p:sp>
        <p:nvSpPr>
          <p:cNvPr id="6" name="Retângulo 5">
            <a:hlinkClick r:id="rId3" action="ppaction://hlinkfile" tooltip="Clique para acionar arquivo de áudio"/>
          </p:cNvPr>
          <p:cNvSpPr/>
          <p:nvPr/>
        </p:nvSpPr>
        <p:spPr>
          <a:xfrm>
            <a:off x="7843838" y="180975"/>
            <a:ext cx="285750" cy="24765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/>
          </a:p>
        </p:txBody>
      </p:sp>
      <p:sp>
        <p:nvSpPr>
          <p:cNvPr id="29701" name="Espaço Reservado para Text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Arial" charset="0"/>
              <a:buNone/>
              <a:defRPr sz="2400" smtClean="0"/>
            </a:lvl1pPr>
          </a:lstStyle>
          <a:p>
            <a:r>
              <a:rPr lang="pt-BR"/>
              <a:t>Clique para editar o estilo do subtítulo mestre</a:t>
            </a:r>
            <a:endParaRPr lang="pt-BR" dirty="0"/>
          </a:p>
        </p:txBody>
      </p:sp>
      <p:sp>
        <p:nvSpPr>
          <p:cNvPr id="29703" name="Espaço Reservado para Título 12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2400" smtClean="0"/>
            </a:lvl1pPr>
          </a:lstStyle>
          <a:p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19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143108" y="214290"/>
            <a:ext cx="5786478" cy="500066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57732E-DC41-4942-B994-2B18C88ED208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/>
          <p:cNvSpPr>
            <a:spLocks noGrp="1"/>
          </p:cNvSpPr>
          <p:nvPr>
            <p:ph type="body" sz="quarter" idx="13"/>
          </p:nvPr>
        </p:nvSpPr>
        <p:spPr>
          <a:xfrm>
            <a:off x="457199" y="1500188"/>
            <a:ext cx="8238745" cy="450056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4pPr>
              <a:defRPr sz="1800"/>
            </a:lvl4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5"/>
          </p:nvPr>
        </p:nvSpPr>
        <p:spPr>
          <a:xfrm>
            <a:off x="471483" y="6191245"/>
            <a:ext cx="8239125" cy="285755"/>
          </a:xfrm>
        </p:spPr>
        <p:txBody>
          <a:bodyPr>
            <a:normAutofit/>
          </a:bodyPr>
          <a:lstStyle>
            <a:lvl1pPr algn="r">
              <a:buNone/>
              <a:defRPr sz="12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15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143108" y="214290"/>
            <a:ext cx="5786478" cy="500066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9DFC6A-6330-42DB-AB70-EFD91010BB48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071547"/>
            <a:ext cx="4038600" cy="49292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071547"/>
            <a:ext cx="4038600" cy="49292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Espaço Reservado para Texto 3"/>
          <p:cNvSpPr>
            <a:spLocks noGrp="1"/>
          </p:cNvSpPr>
          <p:nvPr>
            <p:ph type="body" sz="half" idx="17"/>
          </p:nvPr>
        </p:nvSpPr>
        <p:spPr>
          <a:xfrm>
            <a:off x="2143108" y="214290"/>
            <a:ext cx="5786478" cy="500066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10D8B-7044-4127-8FDD-20251357E83D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9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14422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854184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214422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854184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" name="Espaço Reservado para Texto 3"/>
          <p:cNvSpPr>
            <a:spLocks noGrp="1"/>
          </p:cNvSpPr>
          <p:nvPr>
            <p:ph type="body" sz="half" idx="17"/>
          </p:nvPr>
        </p:nvSpPr>
        <p:spPr>
          <a:xfrm>
            <a:off x="2143108" y="214290"/>
            <a:ext cx="5786478" cy="500066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647268-621A-4CC8-8482-5B1B177517ED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9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071546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1071547"/>
            <a:ext cx="5111750" cy="49292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2428869"/>
            <a:ext cx="3008313" cy="3571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8" name="Espaço Reservado para Texto 3"/>
          <p:cNvSpPr>
            <a:spLocks noGrp="1"/>
          </p:cNvSpPr>
          <p:nvPr>
            <p:ph type="body" sz="half" idx="17"/>
          </p:nvPr>
        </p:nvSpPr>
        <p:spPr>
          <a:xfrm>
            <a:off x="2143108" y="214290"/>
            <a:ext cx="5786478" cy="500066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86B279-388D-4ECB-AE95-4C2051F2A69F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9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1558921"/>
            <a:ext cx="5486400" cy="3727467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 dirty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6334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11" name="Título 10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8" name="Espaço Reservado para Texto 3"/>
          <p:cNvSpPr>
            <a:spLocks noGrp="1"/>
          </p:cNvSpPr>
          <p:nvPr>
            <p:ph type="body" sz="half" idx="17"/>
          </p:nvPr>
        </p:nvSpPr>
        <p:spPr>
          <a:xfrm>
            <a:off x="2143108" y="214290"/>
            <a:ext cx="5786478" cy="500066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6EFBF-380D-42A4-B8C4-BA9654AF796F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9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071547"/>
            <a:ext cx="8229600" cy="4929222"/>
          </a:xfrm>
        </p:spPr>
        <p:txBody>
          <a:bodyPr vert="eaVert"/>
          <a:lstStyle>
            <a:lvl1pPr>
              <a:defRPr sz="2400"/>
            </a:lvl1pPr>
            <a:lvl2pPr>
              <a:defRPr sz="2200"/>
            </a:lvl2pPr>
            <a:lvl4pPr>
              <a:defRPr sz="1800"/>
            </a:lvl4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7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143108" y="214290"/>
            <a:ext cx="5786478" cy="500066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Número de Slid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1A8108-C204-4104-95CF-39C0F51CCA97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1071547"/>
            <a:ext cx="2057400" cy="4857784"/>
          </a:xfrm>
          <a:prstGeom prst="rect">
            <a:avLst/>
          </a:prstGeom>
        </p:spPr>
        <p:txBody>
          <a:bodyPr vert="eaVert"/>
          <a:lstStyle>
            <a:lvl1pPr>
              <a:defRPr sz="2400"/>
            </a:lvl1pPr>
          </a:lstStyle>
          <a:p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071547"/>
            <a:ext cx="6019800" cy="4857784"/>
          </a:xfrm>
        </p:spPr>
        <p:txBody>
          <a:bodyPr vert="eaVert"/>
          <a:lstStyle>
            <a:lvl1pPr>
              <a:defRPr sz="2400"/>
            </a:lvl1pPr>
            <a:lvl2pPr>
              <a:defRPr sz="2200"/>
            </a:lvl2pPr>
            <a:lvl4pPr>
              <a:defRPr sz="1800"/>
            </a:lvl4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7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143108" y="214290"/>
            <a:ext cx="5786478" cy="500066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08EDCF-2E1B-44CE-AE4C-AC8BAED72745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latin typeface="Calibri" pitchFamily="34" charset="0"/>
              </a:defRPr>
            </a:lvl1pPr>
          </a:lstStyle>
          <a:p>
            <a:r>
              <a:rPr lang="pt-BR"/>
              <a:t>Clique para editar o estilo do título mestre</a:t>
            </a:r>
            <a:endParaRPr lang="pt-BR" dirty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2"/>
          </p:nvPr>
        </p:nvSpPr>
        <p:spPr>
          <a:xfrm>
            <a:off x="260251" y="1571625"/>
            <a:ext cx="8637563" cy="4421212"/>
          </a:xfrm>
        </p:spPr>
        <p:txBody>
          <a:bodyPr/>
          <a:lstStyle>
            <a:lvl1pPr>
              <a:defRPr sz="24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143108" y="214290"/>
            <a:ext cx="5786478" cy="500066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0E7D0B-0A4C-4AC7-8CE9-92D3E4AE23E5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../../../totvs.mp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://www.totvs.com.br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Imagem 11" descr="bg_novo.jpg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02675" y="6616700"/>
            <a:ext cx="4905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800" b="1">
                <a:solidFill>
                  <a:schemeClr val="tx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998D596-417F-4B51-9C03-39FBFF0EE3DD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  <p:sp>
        <p:nvSpPr>
          <p:cNvPr id="1029" name="Espaço Reservado para Título 12"/>
          <p:cNvSpPr>
            <a:spLocks noGrp="1"/>
          </p:cNvSpPr>
          <p:nvPr>
            <p:ph type="title"/>
          </p:nvPr>
        </p:nvSpPr>
        <p:spPr bwMode="auto">
          <a:xfrm>
            <a:off x="250825" y="1000125"/>
            <a:ext cx="8642350" cy="41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5" name="Retângulo 14">
            <a:hlinkClick r:id="rId14" highlightClick="1"/>
          </p:cNvPr>
          <p:cNvSpPr/>
          <p:nvPr/>
        </p:nvSpPr>
        <p:spPr>
          <a:xfrm>
            <a:off x="7500938" y="180975"/>
            <a:ext cx="285750" cy="24765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/>
          </a:p>
        </p:txBody>
      </p:sp>
      <p:sp>
        <p:nvSpPr>
          <p:cNvPr id="16" name="Retângulo 15">
            <a:hlinkClick r:id="rId15" action="ppaction://hlinkfile" tooltip="Clique para acionar arquivo de áudio"/>
          </p:cNvPr>
          <p:cNvSpPr/>
          <p:nvPr/>
        </p:nvSpPr>
        <p:spPr>
          <a:xfrm>
            <a:off x="7843838" y="180975"/>
            <a:ext cx="285750" cy="24765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/>
          </a:p>
        </p:txBody>
      </p:sp>
      <p:sp>
        <p:nvSpPr>
          <p:cNvPr id="2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8313" y="6245225"/>
            <a:ext cx="82264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Myriad Pro" pitchFamily="34" charset="0"/>
                <a:cs typeface="+mn-cs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10" name="Espaço Reservado para Texto 7"/>
          <p:cNvSpPr txBox="1">
            <a:spLocks/>
          </p:cNvSpPr>
          <p:nvPr/>
        </p:nvSpPr>
        <p:spPr>
          <a:xfrm>
            <a:off x="2357438" y="285750"/>
            <a:ext cx="5500687" cy="571500"/>
          </a:xfrm>
          <a:prstGeom prst="rect">
            <a:avLst/>
          </a:prstGeom>
        </p:spPr>
        <p:txBody>
          <a:bodyPr>
            <a:normAutofit/>
          </a:bodyPr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pt-BR" dirty="0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8" r:id="rId2"/>
    <p:sldLayoutId id="2147483729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30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rgbClr val="37609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37609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37609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37609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376092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A5002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A5002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A5002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A5002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2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jpeg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0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0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6.xml"/><Relationship Id="rId5" Type="http://schemas.openxmlformats.org/officeDocument/2006/relationships/image" Target="../media/image26.png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7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8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9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30.xml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31.xml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3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3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34.xml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3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3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3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38.xml"/><Relationship Id="rId4" Type="http://schemas.openxmlformats.org/officeDocument/2006/relationships/image" Target="../media/image2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3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4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ilton.Santos@totvspartners.com.br" TargetMode="Externa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jpeg"/><Relationship Id="rId4" Type="http://schemas.openxmlformats.org/officeDocument/2006/relationships/image" Target="../media/image3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m 5" descr="capa_nova1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288"/>
            <a:ext cx="9144000" cy="682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Espaço Reservado para Número de Slide 1"/>
          <p:cNvSpPr>
            <a:spLocks noGrp="1"/>
          </p:cNvSpPr>
          <p:nvPr>
            <p:ph type="sldNum" sz="quarter" idx="14"/>
          </p:nvPr>
        </p:nvSpPr>
        <p:spPr bwMode="auto">
          <a:xfrm>
            <a:off x="8716963" y="6613525"/>
            <a:ext cx="490537" cy="365125"/>
          </a:xfrm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5F302723-82D7-492D-8006-B14A176638D1}" type="slidenum">
              <a:rPr lang="pt-BR"/>
              <a:pPr>
                <a:defRPr/>
              </a:pPr>
              <a:t>1</a:t>
            </a:fld>
            <a:endParaRPr lang="pt-BR" dirty="0"/>
          </a:p>
        </p:txBody>
      </p:sp>
      <p:sp>
        <p:nvSpPr>
          <p:cNvPr id="5124" name="Espaço Reservado para Texto 2"/>
          <p:cNvSpPr>
            <a:spLocks noGrp="1"/>
          </p:cNvSpPr>
          <p:nvPr>
            <p:ph type="body" sz="quarter" idx="4294967295"/>
          </p:nvPr>
        </p:nvSpPr>
        <p:spPr>
          <a:xfrm>
            <a:off x="900113" y="5013325"/>
            <a:ext cx="7272337" cy="503238"/>
          </a:xfrm>
        </p:spPr>
        <p:txBody>
          <a:bodyPr/>
          <a:lstStyle/>
          <a:p>
            <a:pPr algn="ctr" eaLnBrk="1" hangingPunct="1">
              <a:buFont typeface="Arial" charset="0"/>
              <a:buNone/>
            </a:pPr>
            <a:r>
              <a:rPr lang="pt-BR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3077" name="Espaço Reservado para Texto 2"/>
          <p:cNvSpPr>
            <a:spLocks/>
          </p:cNvSpPr>
          <p:nvPr/>
        </p:nvSpPr>
        <p:spPr bwMode="auto">
          <a:xfrm>
            <a:off x="4500563" y="5551488"/>
            <a:ext cx="38163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None/>
              <a:defRPr/>
            </a:pPr>
            <a:r>
              <a:rPr lang="pt-BR" sz="1600" b="1" dirty="0">
                <a:solidFill>
                  <a:srgbClr val="5F5F5F"/>
                </a:solidFill>
                <a:latin typeface="+mj-lt"/>
                <a:cs typeface="+mn-cs"/>
              </a:rPr>
              <a:t>CDSP -  11/03/2024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Espaço Reservado para Número de Slide 1"/>
          <p:cNvSpPr txBox="1">
            <a:spLocks noGrp="1"/>
          </p:cNvSpPr>
          <p:nvPr/>
        </p:nvSpPr>
        <p:spPr bwMode="auto">
          <a:xfrm>
            <a:off x="8710613" y="6615113"/>
            <a:ext cx="4905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fld id="{4864D85E-99A4-42D6-A3A1-A22B8EF4BCEC}" type="slidenum">
              <a:rPr lang="pt-BR" sz="800" b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+mn-cs"/>
              </a:rPr>
              <a:pPr algn="r">
                <a:defRPr/>
              </a:pPr>
              <a:t>2</a:t>
            </a:fld>
            <a:endParaRPr lang="pt-BR" sz="800" b="1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6147" name="Espaço Reservado para Texto 2"/>
          <p:cNvSpPr>
            <a:spLocks noGrp="1"/>
          </p:cNvSpPr>
          <p:nvPr>
            <p:ph type="body" sz="quarter" idx="4294967295"/>
          </p:nvPr>
        </p:nvSpPr>
        <p:spPr>
          <a:xfrm>
            <a:off x="2268538" y="115888"/>
            <a:ext cx="5832475" cy="503237"/>
          </a:xfrm>
        </p:spPr>
        <p:txBody>
          <a:bodyPr/>
          <a:lstStyle/>
          <a:p>
            <a:pPr algn="ctr" eaLnBrk="1" hangingPunct="1">
              <a:buNone/>
            </a:pPr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  <a:r>
              <a:rPr lang="pt-BR" sz="26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1" name="CaixaDeTexto 6"/>
          <p:cNvSpPr txBox="1">
            <a:spLocks noChangeArrowheads="1"/>
          </p:cNvSpPr>
          <p:nvPr/>
        </p:nvSpPr>
        <p:spPr bwMode="auto">
          <a:xfrm>
            <a:off x="4781550" y="1693863"/>
            <a:ext cx="4111625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I) Escrevendo o Código Fonte</a:t>
            </a:r>
          </a:p>
          <a:p>
            <a:pPr>
              <a:defRPr/>
            </a:pPr>
            <a:r>
              <a:rPr lang="pt-BR" sz="1600" dirty="0">
                <a:solidFill>
                  <a:srgbClr val="262626"/>
                </a:solidFill>
                <a:latin typeface="Calibri" pitchFamily="34" charset="0"/>
                <a:cs typeface="+mn-cs"/>
              </a:rPr>
              <a:t>     • Estrutura do código fonte</a:t>
            </a:r>
          </a:p>
          <a:p>
            <a:pPr>
              <a:defRPr/>
            </a:pPr>
            <a:r>
              <a:rPr lang="pt-BR" sz="1600" dirty="0">
                <a:solidFill>
                  <a:srgbClr val="262626"/>
                </a:solidFill>
                <a:latin typeface="Calibri" pitchFamily="34" charset="0"/>
                <a:cs typeface="+mn-cs"/>
              </a:rPr>
              <a:t>     • Legibilidade</a:t>
            </a:r>
          </a:p>
          <a:p>
            <a:pPr>
              <a:defRPr/>
            </a:pPr>
            <a:r>
              <a:rPr lang="pt-BR" sz="1600" dirty="0">
                <a:solidFill>
                  <a:srgbClr val="262626"/>
                </a:solidFill>
                <a:latin typeface="Calibri" pitchFamily="34" charset="0"/>
              </a:rPr>
              <a:t>     • Letras maiúsculas</a:t>
            </a:r>
          </a:p>
          <a:p>
            <a:pPr>
              <a:defRPr/>
            </a:pPr>
            <a:r>
              <a:rPr lang="pt-BR" sz="1600" dirty="0">
                <a:solidFill>
                  <a:srgbClr val="262626"/>
                </a:solidFill>
                <a:latin typeface="Calibri" pitchFamily="34" charset="0"/>
              </a:rPr>
              <a:t>     • Capitulação de palavras chave</a:t>
            </a:r>
          </a:p>
          <a:p>
            <a:pPr>
              <a:defRPr/>
            </a:pPr>
            <a:r>
              <a:rPr lang="pt-BR" sz="1600" dirty="0">
                <a:solidFill>
                  <a:srgbClr val="262626"/>
                </a:solidFill>
                <a:latin typeface="Calibri" pitchFamily="34" charset="0"/>
              </a:rPr>
              <a:t>     • Notação Húngara</a:t>
            </a:r>
          </a:p>
          <a:p>
            <a:pPr>
              <a:defRPr/>
            </a:pPr>
            <a:r>
              <a:rPr lang="pt-BR" sz="1600" dirty="0">
                <a:solidFill>
                  <a:srgbClr val="262626"/>
                </a:solidFill>
                <a:latin typeface="Calibri" pitchFamily="34" charset="0"/>
              </a:rPr>
              <a:t>     • Comentários</a:t>
            </a:r>
            <a:endParaRPr lang="pt-BR" sz="1600" dirty="0">
              <a:solidFill>
                <a:srgbClr val="262626"/>
              </a:solidFill>
              <a:latin typeface="Calibri" pitchFamily="34" charset="0"/>
              <a:cs typeface="+mn-cs"/>
            </a:endParaRPr>
          </a:p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II) Visibilidade e Nomenclatura</a:t>
            </a:r>
          </a:p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III) Proteção de Rotinas</a:t>
            </a:r>
          </a:p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IV) Desempenho</a:t>
            </a:r>
          </a:p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V) Dicas		</a:t>
            </a:r>
            <a:endParaRPr lang="pt-BR" sz="1200" dirty="0">
              <a:latin typeface="+mn-lt"/>
              <a:cs typeface="+mn-cs"/>
            </a:endParaRPr>
          </a:p>
        </p:txBody>
      </p:sp>
      <p:sp>
        <p:nvSpPr>
          <p:cNvPr id="12" name="CaixaDeTexto 11"/>
          <p:cNvSpPr txBox="1">
            <a:spLocks noChangeArrowheads="1"/>
          </p:cNvSpPr>
          <p:nvPr/>
        </p:nvSpPr>
        <p:spPr bwMode="auto">
          <a:xfrm>
            <a:off x="5172075" y="1217613"/>
            <a:ext cx="3286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BR" sz="2000" b="1" dirty="0">
                <a:solidFill>
                  <a:srgbClr val="3A6598"/>
                </a:solidFill>
                <a:latin typeface="+mj-lt"/>
                <a:cs typeface="+mn-cs"/>
              </a:rPr>
              <a:t>ÍNDICE</a:t>
            </a:r>
          </a:p>
        </p:txBody>
      </p:sp>
      <p:pic>
        <p:nvPicPr>
          <p:cNvPr id="6150" name="Picture 2" descr="3330516135_37922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6313" y="1241425"/>
            <a:ext cx="35242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1" name="Picture 2" descr="C:\Projetos TOTVS\PPT\sombrinha-vertical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175" y="765175"/>
            <a:ext cx="314325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Imagem 18" descr="85382342.jpg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683569" y="1358065"/>
            <a:ext cx="3026699" cy="226415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" name="Título 2"/>
          <p:cNvSpPr>
            <a:spLocks noGrp="1"/>
          </p:cNvSpPr>
          <p:nvPr>
            <p:ph type="title"/>
          </p:nvPr>
        </p:nvSpPr>
        <p:spPr>
          <a:xfrm>
            <a:off x="251520" y="1988840"/>
            <a:ext cx="8642350" cy="504056"/>
          </a:xfrm>
        </p:spPr>
        <p:txBody>
          <a:bodyPr anchor="t"/>
          <a:lstStyle/>
          <a:p>
            <a:pPr eaLnBrk="1" hangingPunct="1"/>
            <a:r>
              <a:rPr lang="pt-BR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Área de cabeçalho 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3</a:t>
            </a:fld>
            <a:endParaRPr lang="pt-BR" dirty="0"/>
          </a:p>
        </p:txBody>
      </p:sp>
      <p:grpSp>
        <p:nvGrpSpPr>
          <p:cNvPr id="5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2483768" y="980728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Estrutura do Código Fonte</a:t>
            </a:r>
            <a:endParaRPr lang="pt-BR" sz="1600" b="1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71600" y="2708920"/>
            <a:ext cx="6905625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aixaDeTexto 10"/>
          <p:cNvSpPr txBox="1"/>
          <p:nvPr/>
        </p:nvSpPr>
        <p:spPr>
          <a:xfrm>
            <a:off x="323528" y="3933056"/>
            <a:ext cx="8424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Nessa área são declarados os arquivos de include, variáveis estáticas e as constantes.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" name="Título 2"/>
          <p:cNvSpPr>
            <a:spLocks noGrp="1"/>
          </p:cNvSpPr>
          <p:nvPr>
            <p:ph type="title"/>
          </p:nvPr>
        </p:nvSpPr>
        <p:spPr>
          <a:xfrm>
            <a:off x="250825" y="1844824"/>
            <a:ext cx="8642350" cy="504056"/>
          </a:xfrm>
        </p:spPr>
        <p:txBody>
          <a:bodyPr anchor="t"/>
          <a:lstStyle/>
          <a:p>
            <a:pPr eaLnBrk="1" hangingPunct="1"/>
            <a:r>
              <a:rPr lang="pt-BR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Área de identificação </a:t>
            </a:r>
            <a:br>
              <a:rPr lang="pt-BR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4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1979712" y="980728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Estrutura do Código Fonte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7544" y="5229200"/>
            <a:ext cx="81369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Nessa área deve-se documentar o programa ou função. Contém comentários explicando a sua finalidade, data de criação, parâmetros, retornos e alterações efetuados.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2276872"/>
            <a:ext cx="7267575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" name="Título 2"/>
          <p:cNvSpPr>
            <a:spLocks noGrp="1"/>
          </p:cNvSpPr>
          <p:nvPr>
            <p:ph type="title"/>
          </p:nvPr>
        </p:nvSpPr>
        <p:spPr>
          <a:xfrm>
            <a:off x="250825" y="1844824"/>
            <a:ext cx="8642350" cy="504056"/>
          </a:xfrm>
        </p:spPr>
        <p:txBody>
          <a:bodyPr anchor="t"/>
          <a:lstStyle/>
          <a:p>
            <a:pPr eaLnBrk="1" hangingPunct="1"/>
            <a:r>
              <a:rPr lang="pt-BR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Área de declaração de variáveis e ajustes iniciais </a:t>
            </a:r>
            <a:br>
              <a:rPr lang="pt-BR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5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10" name="CaixaDeTexto 9"/>
          <p:cNvSpPr txBox="1"/>
          <p:nvPr/>
        </p:nvSpPr>
        <p:spPr>
          <a:xfrm>
            <a:off x="467544" y="4797152"/>
            <a:ext cx="81369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Nesta área devem ser feitos os ajustes iniciais, importantes para o correto funcionamento do programa. Entre esses ajustes iniciais encontram-se a declaração e inicialização de varáveis, abertura de arquivos, etc.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1563" y="2719388"/>
            <a:ext cx="7000875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aixaDeTexto 10"/>
          <p:cNvSpPr txBox="1"/>
          <p:nvPr/>
        </p:nvSpPr>
        <p:spPr>
          <a:xfrm>
            <a:off x="1979712" y="980728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Estrutura do Código Fonte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" name="Título 2"/>
          <p:cNvSpPr>
            <a:spLocks noGrp="1"/>
          </p:cNvSpPr>
          <p:nvPr>
            <p:ph type="title"/>
          </p:nvPr>
        </p:nvSpPr>
        <p:spPr>
          <a:xfrm>
            <a:off x="250825" y="1844824"/>
            <a:ext cx="8642350" cy="504056"/>
          </a:xfrm>
        </p:spPr>
        <p:txBody>
          <a:bodyPr anchor="t"/>
          <a:lstStyle/>
          <a:p>
            <a:pPr eaLnBrk="1" hangingPunct="1"/>
            <a:r>
              <a:rPr lang="pt-BR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Corpo do programa 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6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10" name="CaixaDeTexto 9"/>
          <p:cNvSpPr txBox="1"/>
          <p:nvPr/>
        </p:nvSpPr>
        <p:spPr>
          <a:xfrm>
            <a:off x="467544" y="5157192"/>
            <a:ext cx="8136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É o código escrito para realizar a tarefa necessária para atingir o seu objetivo.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15616" y="2420888"/>
            <a:ext cx="692467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aixaDeTexto 10"/>
          <p:cNvSpPr txBox="1"/>
          <p:nvPr/>
        </p:nvSpPr>
        <p:spPr>
          <a:xfrm>
            <a:off x="1979712" y="980728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Estrutura do Código Fonte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" name="Título 2"/>
          <p:cNvSpPr>
            <a:spLocks noGrp="1"/>
          </p:cNvSpPr>
          <p:nvPr>
            <p:ph type="title"/>
          </p:nvPr>
        </p:nvSpPr>
        <p:spPr>
          <a:xfrm>
            <a:off x="250825" y="1844824"/>
            <a:ext cx="8642350" cy="504056"/>
          </a:xfrm>
        </p:spPr>
        <p:txBody>
          <a:bodyPr anchor="t"/>
          <a:lstStyle/>
          <a:p>
            <a:pPr eaLnBrk="1" hangingPunct="1"/>
            <a:r>
              <a:rPr lang="pt-BR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Área de encerramento  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7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10" name="CaixaDeTexto 9"/>
          <p:cNvSpPr txBox="1"/>
          <p:nvPr/>
        </p:nvSpPr>
        <p:spPr>
          <a:xfrm>
            <a:off x="467544" y="5157192"/>
            <a:ext cx="81369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Nessa área finalizamos a execução da rotina fechando áreas de trabalho temporárias, limpando filtros, restaurando áreas salvas e retornamos o resultado da rotina.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3608" y="3212976"/>
            <a:ext cx="6991350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aixaDeTexto 10"/>
          <p:cNvSpPr txBox="1"/>
          <p:nvPr/>
        </p:nvSpPr>
        <p:spPr>
          <a:xfrm>
            <a:off x="1979712" y="980728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Estrutura do Código Fonte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8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2339752" y="980728"/>
            <a:ext cx="4752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Legibilidade – Identação do código</a:t>
            </a:r>
            <a:endParaRPr lang="pt-BR" sz="1600" b="1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9512" y="3356992"/>
            <a:ext cx="5010150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55976" y="4509120"/>
            <a:ext cx="4562475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aixaDeTexto 10"/>
          <p:cNvSpPr txBox="1"/>
          <p:nvPr/>
        </p:nvSpPr>
        <p:spPr>
          <a:xfrm>
            <a:off x="899592" y="5949280"/>
            <a:ext cx="22373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Código identado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5724128" y="3501008"/>
            <a:ext cx="2777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Código não identado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179512" y="5517232"/>
            <a:ext cx="374441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/>
          <p:nvPr/>
        </p:nvCxnSpPr>
        <p:spPr>
          <a:xfrm rot="5400000">
            <a:off x="1763688" y="5733256"/>
            <a:ext cx="432048" cy="158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/>
          <p:nvPr/>
        </p:nvCxnSpPr>
        <p:spPr>
          <a:xfrm>
            <a:off x="5148064" y="4365104"/>
            <a:ext cx="374441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 rot="5400000" flipH="1" flipV="1">
            <a:off x="6912260" y="4185084"/>
            <a:ext cx="360040" cy="158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179512" y="1772816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Identar o código torna mais fácil identificar blocos de comandos que façam parte de um loop ou estrutura condicional.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9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2267744" y="980728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Legibilidade - Quebra de linhas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3573016"/>
            <a:ext cx="8496944" cy="79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1520" y="5085184"/>
            <a:ext cx="8496944" cy="1049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aixaDeTexto 13"/>
          <p:cNvSpPr txBox="1"/>
          <p:nvPr/>
        </p:nvSpPr>
        <p:spPr>
          <a:xfrm>
            <a:off x="179512" y="1772816"/>
            <a:ext cx="8712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Linhas muito longas podem dificultar a legibilidade, nesses casos é melhor quebrar a linha usando o ponto e vírgula.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51520" y="2996952"/>
            <a:ext cx="274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Sem quebra de linha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251520" y="4581128"/>
            <a:ext cx="2778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Com quebra de linha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10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2195736" y="980728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Legibilidade - Espaços em branco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1700808"/>
            <a:ext cx="8712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Inserir espaços torna mais fácil identificar parâmetros de uma função, distinguir as chaves em uma busca ou visualizar os itens de um cálculo.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9512" y="3429000"/>
            <a:ext cx="6858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9512" y="2987716"/>
            <a:ext cx="588645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25692" y="4213732"/>
            <a:ext cx="8756401" cy="292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69409" y="4546064"/>
            <a:ext cx="71913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79512" y="5373216"/>
            <a:ext cx="719137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79512" y="5821856"/>
            <a:ext cx="808672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11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2195736" y="980728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Letras Maiúsculas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1700808"/>
            <a:ext cx="87129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Existem alguns casos em que o código deve ser escrito em letras maiúsculas.</a:t>
            </a:r>
          </a:p>
          <a:p>
            <a:pPr algn="just"/>
            <a:endParaRPr lang="pt-BR" sz="24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/>
            <a:r>
              <a:rPr lang="pt-BR" sz="24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Código SQL			SELECT * FROM SN1990</a:t>
            </a:r>
          </a:p>
          <a:p>
            <a:pPr algn="just"/>
            <a:endParaRPr lang="pt-BR" sz="24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/>
            <a:r>
              <a:rPr lang="pt-BR" sz="24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Nome de campos		SN1-&gt;N1_CBASE</a:t>
            </a:r>
          </a:p>
          <a:p>
            <a:pPr algn="just"/>
            <a:endParaRPr lang="pt-BR" sz="24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/>
            <a:r>
              <a:rPr lang="pt-BR" sz="24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Variáveis de memória		M-&gt;N3_CBASE</a:t>
            </a:r>
          </a:p>
          <a:p>
            <a:pPr algn="just"/>
            <a:endParaRPr lang="pt-BR" sz="24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/>
            <a:r>
              <a:rPr lang="pt-BR" sz="24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Constantes			#Define PI 3.1415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12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2195736" y="980728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Capitulação de palavras chave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1628800"/>
            <a:ext cx="87129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Uma convenção amplamente utilizada é a de capitular as palavras chaves, funções, variáveis e campos utilizando uma combinação de caracteres em maiúsculo e minúsculo, visando facilitar a leitura do código fonte.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9512" y="3429000"/>
            <a:ext cx="4409453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16016" y="3429000"/>
            <a:ext cx="4226789" cy="3096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13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2195736" y="980728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Notação Húngara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1700808"/>
            <a:ext cx="8712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Deve ser utilizada para identificar o tipo de conteúdo de uma variável.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35696" y="2852936"/>
            <a:ext cx="5112568" cy="3799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14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2195736" y="980728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Comentários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1700808"/>
            <a:ext cx="871296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Comentários servem como documentação e explicação de um código fonte, mantendo um histórico e facilitando seu entendimento para análise e manutenção. </a:t>
            </a:r>
          </a:p>
          <a:p>
            <a:pPr algn="just"/>
            <a:endParaRPr lang="pt-BR" sz="24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/>
            <a:r>
              <a:rPr lang="pt-BR" sz="24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Comentar o fonte, facilita o entendimento por parte do analista que precisar realizar manutenção e até mesmo para quem o criou, mas lembre-se que comentário em excesso polui o código e pode atrapalhar, portanto use o bom senso.</a:t>
            </a:r>
          </a:p>
          <a:p>
            <a:pPr algn="just"/>
            <a:endParaRPr lang="pt-BR" sz="24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/>
            <a:r>
              <a:rPr lang="pt-BR" sz="24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Não existe uma regra sobre o que se deve comentar ou como, mas segue algumas dicas sobre o que comentar e melhorar o entendimento do seu código fonte. </a:t>
            </a:r>
          </a:p>
          <a:p>
            <a:pPr algn="just"/>
            <a:endParaRPr lang="pt-BR" sz="24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15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2195736" y="980728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Comentários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1988840"/>
            <a:ext cx="871296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Insira um cabeçalho e comente qual finalidade da rotina ou função, descrevendo quais parâmetros devem ser passados e qual deve ser o retorno esperado.</a:t>
            </a:r>
          </a:p>
          <a:p>
            <a:pPr algn="just"/>
            <a:endParaRPr lang="pt-BR" sz="22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>
              <a:buFont typeface="Wingdings" pitchFamily="2" charset="2"/>
              <a:buChar char="Ø"/>
            </a:pP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Comente a chave do índice utilizado ao lado da função dbSetOrder() </a:t>
            </a:r>
          </a:p>
          <a:p>
            <a:pPr algn="just">
              <a:buFont typeface="Wingdings" pitchFamily="2" charset="2"/>
              <a:buChar char="Ø"/>
            </a:pPr>
            <a:endParaRPr lang="pt-BR" sz="22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>
              <a:buFont typeface="Wingdings" pitchFamily="2" charset="2"/>
              <a:buChar char="Ø"/>
            </a:pP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Quando utilizar strings de um arquivo CH, insira um comentário ao lado com o texto da string. </a:t>
            </a:r>
          </a:p>
          <a:p>
            <a:pPr algn="just">
              <a:buFont typeface="Wingdings" pitchFamily="2" charset="2"/>
              <a:buChar char="Ø"/>
            </a:pPr>
            <a:endParaRPr lang="pt-BR" sz="22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>
              <a:buFont typeface="Wingdings" pitchFamily="2" charset="2"/>
              <a:buChar char="Ø"/>
            </a:pP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Comente cálculos, explicando qual sua lógica. </a:t>
            </a:r>
          </a:p>
          <a:p>
            <a:pPr algn="just">
              <a:buFont typeface="Wingdings" pitchFamily="2" charset="2"/>
              <a:buChar char="Ø"/>
            </a:pPr>
            <a:endParaRPr lang="pt-BR" sz="22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>
              <a:buFont typeface="Wingdings" pitchFamily="2" charset="2"/>
              <a:buChar char="Ø"/>
            </a:pP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Comente trechos de código, explicando de forma sucinta sua finalidade.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Espaço Reservado para Número de Slide 1"/>
          <p:cNvSpPr txBox="1">
            <a:spLocks noGrp="1"/>
          </p:cNvSpPr>
          <p:nvPr/>
        </p:nvSpPr>
        <p:spPr bwMode="auto">
          <a:xfrm>
            <a:off x="8710613" y="6615113"/>
            <a:ext cx="4905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fld id="{93F4CB4C-2F9E-4754-AE67-0861CB9F035F}" type="slidenum">
              <a:rPr lang="pt-BR" sz="800" b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+mn-cs"/>
              </a:rPr>
              <a:pPr algn="r">
                <a:defRPr/>
              </a:pPr>
              <a:t>16</a:t>
            </a:fld>
            <a:endParaRPr lang="pt-BR" sz="800" b="1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11267" name="Espaço Reservado para Texto 2"/>
          <p:cNvSpPr>
            <a:spLocks noGrp="1"/>
          </p:cNvSpPr>
          <p:nvPr>
            <p:ph type="body" sz="quarter" idx="4294967295"/>
          </p:nvPr>
        </p:nvSpPr>
        <p:spPr>
          <a:xfrm>
            <a:off x="2268538" y="115888"/>
            <a:ext cx="5832475" cy="503237"/>
          </a:xfrm>
        </p:spPr>
        <p:txBody>
          <a:bodyPr/>
          <a:lstStyle/>
          <a:p>
            <a:pPr algn="ctr" eaLnBrk="1" hangingPunct="1">
              <a:buNone/>
            </a:pPr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  <a:endParaRPr lang="pt-BR" sz="2600" dirty="0">
              <a:solidFill>
                <a:schemeClr val="bg1"/>
              </a:solidFill>
            </a:endParaRPr>
          </a:p>
        </p:txBody>
      </p:sp>
      <p:sp>
        <p:nvSpPr>
          <p:cNvPr id="11" name="CaixaDeTexto 6"/>
          <p:cNvSpPr txBox="1">
            <a:spLocks noChangeArrowheads="1"/>
          </p:cNvSpPr>
          <p:nvPr/>
        </p:nvSpPr>
        <p:spPr bwMode="auto">
          <a:xfrm>
            <a:off x="4781550" y="1693863"/>
            <a:ext cx="4111625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I) Escrevendo o Código Fonte</a:t>
            </a:r>
          </a:p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II) Visibilidade e Nomenclatura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pt-BR" sz="1600" dirty="0">
                <a:latin typeface="+mn-lt"/>
                <a:cs typeface="+mn-cs"/>
              </a:rPr>
              <a:t> Padrão de Nomenclatura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pt-BR" sz="1600" dirty="0">
                <a:latin typeface="+mn-lt"/>
                <a:cs typeface="+mn-cs"/>
              </a:rPr>
              <a:t> Visibilidade</a:t>
            </a:r>
          </a:p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III) Proteção de Rotinas</a:t>
            </a:r>
          </a:p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IV) Desempenho</a:t>
            </a:r>
          </a:p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V) Dicas 	</a:t>
            </a:r>
          </a:p>
        </p:txBody>
      </p:sp>
      <p:sp>
        <p:nvSpPr>
          <p:cNvPr id="12" name="CaixaDeTexto 11"/>
          <p:cNvSpPr txBox="1">
            <a:spLocks noChangeArrowheads="1"/>
          </p:cNvSpPr>
          <p:nvPr/>
        </p:nvSpPr>
        <p:spPr bwMode="auto">
          <a:xfrm>
            <a:off x="5172075" y="1217613"/>
            <a:ext cx="3286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BR" sz="2000" b="1" dirty="0">
                <a:solidFill>
                  <a:srgbClr val="3A6598"/>
                </a:solidFill>
                <a:latin typeface="+mj-lt"/>
                <a:cs typeface="+mn-cs"/>
              </a:rPr>
              <a:t>ÍNDICE</a:t>
            </a:r>
          </a:p>
        </p:txBody>
      </p:sp>
      <p:pic>
        <p:nvPicPr>
          <p:cNvPr id="11270" name="Picture 2" descr="3330516135_37922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6313" y="1241425"/>
            <a:ext cx="35242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1" name="Picture 2" descr="C:\Projetos TOTVS\PPT\sombrinha-vertical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175" y="765175"/>
            <a:ext cx="314325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Imagem 18" descr="85382342.jpg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683569" y="1358065"/>
            <a:ext cx="3026699" cy="226415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rredondar Retângulo em um Canto Diagonal 11"/>
          <p:cNvSpPr/>
          <p:nvPr/>
        </p:nvSpPr>
        <p:spPr>
          <a:xfrm>
            <a:off x="179512" y="2924944"/>
            <a:ext cx="8784976" cy="63874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0" name="CaixaDeTexto 9"/>
          <p:cNvSpPr txBox="1"/>
          <p:nvPr/>
        </p:nvSpPr>
        <p:spPr>
          <a:xfrm>
            <a:off x="179512" y="1700809"/>
            <a:ext cx="871296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Código Fonte</a:t>
            </a:r>
          </a:p>
          <a:p>
            <a:pPr algn="just"/>
            <a:endParaRPr lang="pt-BR" sz="22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O nome do código-fonte deve ser montado da seguinte forma: </a:t>
            </a:r>
          </a:p>
          <a:p>
            <a:endParaRPr lang="pt-BR" sz="22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r>
              <a:rPr lang="pt-BR" sz="22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 Famílias de Programas + Tipo de Operação + Identificador Numérico.prw</a:t>
            </a:r>
          </a:p>
          <a:p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 </a:t>
            </a:r>
          </a:p>
          <a:p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O Tipo de operação é indicado na tabela abaixo: </a:t>
            </a:r>
          </a:p>
        </p:txBody>
      </p:sp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17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2195736" y="980728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Padrão de Nomenclatura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/>
        </p:nvGraphicFramePr>
        <p:xfrm>
          <a:off x="1259632" y="4293096"/>
          <a:ext cx="669674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8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8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Tipo de Operação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Utilizar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Entrada de dados/processamento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Consulta de 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Relatórios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Funções genéricas</a:t>
                      </a:r>
                      <a:r>
                        <a:rPr lang="pt-BR" baseline="0" dirty="0"/>
                        <a:t> do módulo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18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2195736" y="980728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Padrão de Nomenclatura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1700809"/>
            <a:ext cx="8712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Exemplo de nome de Código Fonte</a:t>
            </a:r>
          </a:p>
          <a:p>
            <a:pPr algn="just"/>
            <a:endParaRPr lang="pt-BR" sz="2200" b="1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Inclusão de dados do módulo Gestão de Pessoas -&gt; </a:t>
            </a:r>
            <a:r>
              <a:rPr lang="pt-BR" sz="22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GPEA010.PRW</a:t>
            </a:r>
          </a:p>
        </p:txBody>
      </p:sp>
      <p:graphicFrame>
        <p:nvGraphicFramePr>
          <p:cNvPr id="12" name="Tabela 11"/>
          <p:cNvGraphicFramePr>
            <a:graphicFrameLocks noGrp="1"/>
          </p:cNvGraphicFramePr>
          <p:nvPr/>
        </p:nvGraphicFramePr>
        <p:xfrm>
          <a:off x="467544" y="3429000"/>
          <a:ext cx="820891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1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7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Trecho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GPE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Família de programas do módulo Gestão de Pessoas.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Entrada de dados.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Numeração de fonte disponível.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.PRW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Extensão indicadora de que o arquivo é um código-fonte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19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2195736" y="980728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Padrão de Nomenclatura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1700808"/>
            <a:ext cx="87129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Funções</a:t>
            </a:r>
          </a:p>
          <a:p>
            <a:pPr algn="just"/>
            <a:endParaRPr lang="pt-BR" sz="2200" b="1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As funções pertencentes a um código-fonte podem ser nomeadas de acordo com a sua aplicabilidade.</a:t>
            </a:r>
          </a:p>
          <a:p>
            <a:endParaRPr lang="pt-BR" sz="2400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1835696" y="3501008"/>
            <a:ext cx="5472608" cy="17543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1">
              <a:buFont typeface="Wingdings" pitchFamily="2" charset="2"/>
              <a:buChar char="Ø"/>
            </a:pPr>
            <a:endParaRPr lang="pt-BR" dirty="0">
              <a:solidFill>
                <a:schemeClr val="bg1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pt-BR" dirty="0">
                <a:solidFill>
                  <a:schemeClr val="bg1"/>
                </a:solidFill>
              </a:rPr>
              <a:t> 1ª letra do nome do código fonte </a:t>
            </a:r>
          </a:p>
          <a:p>
            <a:pPr lvl="1">
              <a:buFont typeface="Wingdings" pitchFamily="2" charset="2"/>
              <a:buChar char="Ø"/>
            </a:pPr>
            <a:r>
              <a:rPr lang="pt-BR" dirty="0">
                <a:solidFill>
                  <a:schemeClr val="bg1"/>
                </a:solidFill>
              </a:rPr>
              <a:t> Tipo de Operação indicado no código fonte </a:t>
            </a:r>
          </a:p>
          <a:p>
            <a:pPr lvl="1">
              <a:buFont typeface="Wingdings" pitchFamily="2" charset="2"/>
              <a:buChar char="Ø"/>
            </a:pPr>
            <a:r>
              <a:rPr lang="pt-BR" dirty="0">
                <a:solidFill>
                  <a:schemeClr val="bg1"/>
                </a:solidFill>
              </a:rPr>
              <a:t> Identificador do código-fonte </a:t>
            </a:r>
          </a:p>
          <a:p>
            <a:pPr lvl="1">
              <a:buFont typeface="Wingdings" pitchFamily="2" charset="2"/>
              <a:buChar char="Ø"/>
            </a:pPr>
            <a:r>
              <a:rPr lang="pt-BR" dirty="0">
                <a:solidFill>
                  <a:schemeClr val="bg1"/>
                </a:solidFill>
              </a:rPr>
              <a:t> Abreviação descritiva do que a função faz </a:t>
            </a:r>
          </a:p>
          <a:p>
            <a:pPr>
              <a:buFont typeface="Wingdings" pitchFamily="2" charset="2"/>
              <a:buChar char="Ø"/>
            </a:pPr>
            <a:endParaRPr lang="pt-BR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20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2195736" y="980728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Padrão de Nomenclatura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1700808"/>
            <a:ext cx="871296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Exemplo de nome de Função</a:t>
            </a:r>
          </a:p>
          <a:p>
            <a:pPr algn="just"/>
            <a:endParaRPr lang="pt-BR" sz="2200" b="1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Função de inclusão de dados no FINA050 -&gt; FA050Inclu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/>
        </p:nvGraphicFramePr>
        <p:xfrm>
          <a:off x="323528" y="3429000"/>
          <a:ext cx="813690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4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1ª. Letra do nome do código fonte.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Tipo de operação (manipulação de dados)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Identificador do código fonte.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Inclu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Abreviação do que a função faz -&gt; Inclusão de dados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rredondar Retângulo em um Canto Diagonal 11"/>
          <p:cNvSpPr/>
          <p:nvPr/>
        </p:nvSpPr>
        <p:spPr>
          <a:xfrm>
            <a:off x="253400" y="3212976"/>
            <a:ext cx="8640960" cy="2736303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1"/>
            <a:r>
              <a:rPr lang="pt-BR" sz="2200" b="1" dirty="0">
                <a:solidFill>
                  <a:schemeClr val="tx2">
                    <a:lumMod val="75000"/>
                  </a:schemeClr>
                </a:solidFill>
              </a:rPr>
              <a:t>Exemplos: </a:t>
            </a:r>
          </a:p>
          <a:p>
            <a:pPr lvl="1"/>
            <a:endParaRPr lang="pt-BR" sz="2200" dirty="0">
              <a:solidFill>
                <a:schemeClr val="tx2">
                  <a:lumMod val="75000"/>
                </a:schemeClr>
              </a:solidFill>
            </a:endParaRPr>
          </a:p>
          <a:p>
            <a:pPr lvl="1"/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ValidaCpo() -&gt; Valida conteúdo de campo </a:t>
            </a:r>
          </a:p>
          <a:p>
            <a:pPr lvl="1"/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CalcJuros() -&gt; Cálculo de juros</a:t>
            </a:r>
          </a:p>
          <a:p>
            <a:pPr algn="ctr">
              <a:defRPr/>
            </a:pPr>
            <a:endParaRPr lang="pt-BR" dirty="0"/>
          </a:p>
        </p:txBody>
      </p:sp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21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2195736" y="980728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Padrão de Nomenclatura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2132856"/>
            <a:ext cx="87129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Para funções genéricas utilizadas em um determinado módulo, nomeia-se a função diretamente de acordo com a sua aplicabilidade.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redondar Retângulo em um Canto Diagonal 10"/>
          <p:cNvSpPr/>
          <p:nvPr/>
        </p:nvSpPr>
        <p:spPr>
          <a:xfrm>
            <a:off x="251520" y="3212976"/>
            <a:ext cx="8640960" cy="2736303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1" algn="just"/>
            <a:r>
              <a:rPr lang="pt-BR" sz="2200" b="1" dirty="0">
                <a:solidFill>
                  <a:schemeClr val="tx2">
                    <a:lumMod val="75000"/>
                  </a:schemeClr>
                </a:solidFill>
              </a:rPr>
              <a:t>Exemplos:</a:t>
            </a:r>
          </a:p>
          <a:p>
            <a:pPr lvl="1" algn="just"/>
            <a:endParaRPr lang="pt-BR" sz="2200" dirty="0">
              <a:solidFill>
                <a:schemeClr val="tx2">
                  <a:lumMod val="75000"/>
                </a:schemeClr>
              </a:solidFill>
            </a:endParaRPr>
          </a:p>
          <a:p>
            <a:pPr lvl="1"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cCodigo – Variável caractere para armazenar um código</a:t>
            </a:r>
          </a:p>
          <a:p>
            <a:pPr lvl="1"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cNF – Variável caractere com o número da Nota Fiscal</a:t>
            </a:r>
          </a:p>
          <a:p>
            <a:pPr lvl="1"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nCount – Variável numérica usada como contador</a:t>
            </a:r>
          </a:p>
          <a:p>
            <a:pPr lvl="1"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cMoeda – Variável caractere com o código da moeda</a:t>
            </a:r>
          </a:p>
          <a:p>
            <a:pPr algn="ctr">
              <a:defRPr/>
            </a:pPr>
            <a:endParaRPr lang="pt-BR" dirty="0"/>
          </a:p>
        </p:txBody>
      </p:sp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22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2195736" y="980728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Padrão de Nomenclatura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2132856"/>
            <a:ext cx="87129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Para variáveis não existe um padrão, porém deve-se utilizar um nome de acordo com a sua finalidade, facilitando o entendimento.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23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2195736" y="980728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Padrão de Nomenclatura</a:t>
            </a:r>
          </a:p>
        </p:txBody>
      </p:sp>
      <p:sp>
        <p:nvSpPr>
          <p:cNvPr id="11" name="Arredondar Retângulo em um Canto Diagonal 10"/>
          <p:cNvSpPr/>
          <p:nvPr/>
        </p:nvSpPr>
        <p:spPr>
          <a:xfrm>
            <a:off x="323528" y="2420888"/>
            <a:ext cx="8568952" cy="3312367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pic>
        <p:nvPicPr>
          <p:cNvPr id="12" name="Imagem 16" descr="ic_importante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4" y="2852936"/>
            <a:ext cx="1357313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CaixaDeTexto 12"/>
          <p:cNvSpPr txBox="1"/>
          <p:nvPr/>
        </p:nvSpPr>
        <p:spPr>
          <a:xfrm>
            <a:off x="899592" y="3573016"/>
            <a:ext cx="73448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Não existe tamanho máximo para nomes de variáveis e funções, entretanto o compilador reconhece apenas 10 caracteres, ignorando o restante.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As variáveis nValorTituloPagar e nValorTituloReceber, são vistas pelo compilador como nValorTitu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24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2195736" y="980728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Visibilidade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2132856"/>
            <a:ext cx="87129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Funções</a:t>
            </a:r>
          </a:p>
          <a:p>
            <a:pPr algn="just"/>
            <a:endParaRPr lang="pt-BR" sz="22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Funções sem declaração (quando usadas a partir do menu da aplicação), declaradas como Main ou User são visíveis em todo o sistema, carregando a pilha de memória, portanto se forem usadas apenas no próprio código fonte devem ser declaradas como STATIC.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25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2195736" y="980728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Visibilidade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2132856"/>
            <a:ext cx="871296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Variáveis</a:t>
            </a:r>
          </a:p>
          <a:p>
            <a:pPr algn="just"/>
            <a:endParaRPr lang="pt-BR" sz="22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Apenas os tipos PRIVATE e LOCAL são utilizados, variáveis PUBLIC não devem ser utilizadas.</a:t>
            </a:r>
          </a:p>
          <a:p>
            <a:pPr algn="just"/>
            <a:endParaRPr lang="pt-BR" sz="22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Normalmente apenas o tipo LOCAL é utilizado o tipo PRIVATE de ser usado apenas em casos extremamente necessários e devem ser avaliados.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Espaço Reservado para Número de Slide 1"/>
          <p:cNvSpPr txBox="1">
            <a:spLocks noGrp="1"/>
          </p:cNvSpPr>
          <p:nvPr/>
        </p:nvSpPr>
        <p:spPr bwMode="auto">
          <a:xfrm>
            <a:off x="8710613" y="6615113"/>
            <a:ext cx="4905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fld id="{93F4CB4C-2F9E-4754-AE67-0861CB9F035F}" type="slidenum">
              <a:rPr lang="pt-BR" sz="800" b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+mn-cs"/>
              </a:rPr>
              <a:pPr algn="r">
                <a:defRPr/>
              </a:pPr>
              <a:t>26</a:t>
            </a:fld>
            <a:endParaRPr lang="pt-BR" sz="800" b="1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11267" name="Espaço Reservado para Texto 2"/>
          <p:cNvSpPr>
            <a:spLocks noGrp="1"/>
          </p:cNvSpPr>
          <p:nvPr>
            <p:ph type="body" sz="quarter" idx="4294967295"/>
          </p:nvPr>
        </p:nvSpPr>
        <p:spPr>
          <a:xfrm>
            <a:off x="2268538" y="115888"/>
            <a:ext cx="5832475" cy="503237"/>
          </a:xfrm>
        </p:spPr>
        <p:txBody>
          <a:bodyPr/>
          <a:lstStyle/>
          <a:p>
            <a:pPr algn="ctr" eaLnBrk="1" hangingPunct="1">
              <a:buNone/>
            </a:pPr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  <a:endParaRPr lang="pt-BR" sz="2600" dirty="0">
              <a:solidFill>
                <a:schemeClr val="bg1"/>
              </a:solidFill>
            </a:endParaRPr>
          </a:p>
        </p:txBody>
      </p:sp>
      <p:sp>
        <p:nvSpPr>
          <p:cNvPr id="11" name="CaixaDeTexto 6"/>
          <p:cNvSpPr txBox="1">
            <a:spLocks noChangeArrowheads="1"/>
          </p:cNvSpPr>
          <p:nvPr/>
        </p:nvSpPr>
        <p:spPr bwMode="auto">
          <a:xfrm>
            <a:off x="4781550" y="1693863"/>
            <a:ext cx="4111625" cy="3293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I) Escrevendo o Código Fonte</a:t>
            </a:r>
          </a:p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II) Visibilidade e Nomenclatura</a:t>
            </a:r>
          </a:p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III) Proteção de Rotinas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pt-BR" sz="1600" dirty="0">
                <a:latin typeface="+mn-lt"/>
                <a:cs typeface="+mn-cs"/>
              </a:rPr>
              <a:t> Campos, Funções e Tabelas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pt-BR" sz="1600" dirty="0">
                <a:latin typeface="+mn-lt"/>
                <a:cs typeface="+mn-cs"/>
              </a:rPr>
              <a:t> Inicialização de variáveis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pt-BR" sz="1600" dirty="0">
                <a:latin typeface="+mn-lt"/>
                <a:cs typeface="+mn-cs"/>
              </a:rPr>
              <a:t> Alias ativo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pt-BR" sz="1600" dirty="0">
                <a:latin typeface="+mn-lt"/>
                <a:cs typeface="+mn-cs"/>
              </a:rPr>
              <a:t> Tratamento de retorno de funções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pt-BR" sz="1600" dirty="0">
                <a:latin typeface="+mn-lt"/>
                <a:cs typeface="+mn-cs"/>
              </a:rPr>
              <a:t> Especificar o alias do campo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pt-BR" sz="1600" dirty="0">
                <a:latin typeface="+mn-lt"/>
                <a:cs typeface="+mn-cs"/>
              </a:rPr>
              <a:t> Controle de Transação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pt-BR" sz="1600" dirty="0">
                <a:latin typeface="+mn-lt"/>
                <a:cs typeface="+mn-cs"/>
              </a:rPr>
              <a:t> Localização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pt-BR" sz="1600" dirty="0">
                <a:latin typeface="+mn-lt"/>
                <a:cs typeface="+mn-cs"/>
              </a:rPr>
              <a:t> Banco de Dados</a:t>
            </a:r>
          </a:p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IV)Desempenho</a:t>
            </a:r>
          </a:p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V) Dicas 	</a:t>
            </a:r>
          </a:p>
        </p:txBody>
      </p:sp>
      <p:sp>
        <p:nvSpPr>
          <p:cNvPr id="12" name="CaixaDeTexto 11"/>
          <p:cNvSpPr txBox="1">
            <a:spLocks noChangeArrowheads="1"/>
          </p:cNvSpPr>
          <p:nvPr/>
        </p:nvSpPr>
        <p:spPr bwMode="auto">
          <a:xfrm>
            <a:off x="5172075" y="1217613"/>
            <a:ext cx="3286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BR" sz="2000" b="1" dirty="0">
                <a:solidFill>
                  <a:srgbClr val="3A6598"/>
                </a:solidFill>
                <a:latin typeface="+mj-lt"/>
                <a:cs typeface="+mn-cs"/>
              </a:rPr>
              <a:t>ÍNDICE</a:t>
            </a:r>
          </a:p>
        </p:txBody>
      </p:sp>
      <p:pic>
        <p:nvPicPr>
          <p:cNvPr id="11270" name="Picture 2" descr="3330516135_37922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6313" y="1241425"/>
            <a:ext cx="35242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1" name="Picture 2" descr="C:\Projetos TOTVS\PPT\sombrinha-vertical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175" y="765175"/>
            <a:ext cx="314325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Imagem 18" descr="85382342.jpg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683569" y="1358065"/>
            <a:ext cx="3026699" cy="226415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27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1619672" y="980728"/>
            <a:ext cx="5616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Proteção – Campos, Tabelas e Funções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2132856"/>
            <a:ext cx="871296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Nos fontes do padrão é muito importante verificar a existência de campos, tabelas e funções. Essa precaução evita erros nas rotinas quando são utilizadas em sistemas desatualizados.</a:t>
            </a:r>
          </a:p>
          <a:p>
            <a:pPr algn="just"/>
            <a:endParaRPr lang="pt-BR" sz="22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FieldPos – Verifica a existência de um campo, evitando que a rotina tente manipular campos inexistentes. Retorna posição numérica do campo.</a:t>
            </a:r>
          </a:p>
          <a:p>
            <a:pPr algn="just"/>
            <a:endParaRPr lang="pt-BR" sz="22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AliasInDic – Verifica se a tabela existe no dicionário. Retorna .T. ou .F.</a:t>
            </a:r>
          </a:p>
          <a:p>
            <a:pPr algn="just"/>
            <a:endParaRPr lang="pt-BR" sz="22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FindFunction – Verifica se uma função está compilada no repositório. Retorna .T. ou .F.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28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1547664" y="980728"/>
            <a:ext cx="6336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Proteção – Campos, Tabelas e Funções</a:t>
            </a:r>
          </a:p>
        </p:txBody>
      </p:sp>
      <p:sp>
        <p:nvSpPr>
          <p:cNvPr id="11" name="Arredondar Retângulo em um Canto Diagonal 10"/>
          <p:cNvSpPr/>
          <p:nvPr/>
        </p:nvSpPr>
        <p:spPr>
          <a:xfrm>
            <a:off x="179512" y="1700808"/>
            <a:ext cx="8712968" cy="4896544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pt-BR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>
              <a:defRPr/>
            </a:pPr>
            <a:endParaRPr lang="pt-BR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755576" y="2060848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75000"/>
                  </a:schemeClr>
                </a:solidFill>
              </a:rPr>
              <a:t>Exemplos: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9592" y="2708920"/>
            <a:ext cx="5029200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99592" y="4149080"/>
            <a:ext cx="444817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99592" y="5085184"/>
            <a:ext cx="53721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29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1619672" y="980728"/>
            <a:ext cx="5616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Proteção – Inicialização de Variáveis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1772816"/>
            <a:ext cx="87129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Ao criar uma variável inicializa-a com um valor padrão.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4" y="2348880"/>
            <a:ext cx="7820025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CaixaDeTexto 11"/>
          <p:cNvSpPr txBox="1"/>
          <p:nvPr/>
        </p:nvSpPr>
        <p:spPr>
          <a:xfrm>
            <a:off x="251520" y="3789040"/>
            <a:ext cx="8712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Parâmetros devem ser protegidos atribuindo um valor padrão, logo após a declaração das variáveis da função, caso a rotina chamadora não passe um valor.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7544" y="5085184"/>
            <a:ext cx="7239000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30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1619672" y="980728"/>
            <a:ext cx="5616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Proteção – Alias Ativo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251520" y="1772816"/>
            <a:ext cx="87129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Uma proteção muito importante em todas as funções é salvar o contexto do alias ativo e também daqueles manipulados dentro da sua função.</a:t>
            </a:r>
          </a:p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Essa proteção garante que sua função não interferirá na execução da função chamadora.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4860032" y="3212976"/>
            <a:ext cx="4104456" cy="144655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2200" dirty="0">
                <a:solidFill>
                  <a:schemeClr val="bg1"/>
                </a:solidFill>
                <a:latin typeface="+mn-lt"/>
                <a:cs typeface="+mn-cs"/>
              </a:rPr>
              <a:t>A função GetArea() salva em um array o nome do alias, o índice e o registro atual. Já a função RestArea() restaura o alias salvo.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3429000"/>
            <a:ext cx="3914775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Arredondar Retângulo em um Canto Diagonal 12"/>
          <p:cNvSpPr/>
          <p:nvPr/>
        </p:nvSpPr>
        <p:spPr>
          <a:xfrm>
            <a:off x="4932040" y="5229200"/>
            <a:ext cx="3960738" cy="1143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pic>
        <p:nvPicPr>
          <p:cNvPr id="14" name="Imagem 16" descr="ic_importante.pn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04048" y="5301208"/>
            <a:ext cx="1357313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CaixaDeTexto 14"/>
          <p:cNvSpPr txBox="1"/>
          <p:nvPr/>
        </p:nvSpPr>
        <p:spPr>
          <a:xfrm>
            <a:off x="5364088" y="5805264"/>
            <a:ext cx="3240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Sempre salve o alias ativo.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31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1187624" y="980728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Proteção – Tratamento de retorno de funções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2132856"/>
            <a:ext cx="87129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Quando chamar funções com algum retorno, utilize uma estrutura condicional para verificar seu retorno.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552" y="3356992"/>
            <a:ext cx="65151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32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1187624" y="980728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Proteção – Especificar o Alias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1772816"/>
            <a:ext cx="87129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Ao manipular tabelas é recomendável sempre especificar na frente do nome do campo e de funções o alias a ser usado.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536" y="2636912"/>
            <a:ext cx="5429250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aixaDeTexto 10"/>
          <p:cNvSpPr txBox="1"/>
          <p:nvPr/>
        </p:nvSpPr>
        <p:spPr>
          <a:xfrm>
            <a:off x="3563888" y="5157192"/>
            <a:ext cx="5328592" cy="132343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2000" dirty="0">
                <a:solidFill>
                  <a:schemeClr val="bg1"/>
                </a:solidFill>
                <a:latin typeface="+mn-lt"/>
                <a:cs typeface="+mn-cs"/>
              </a:rPr>
              <a:t>Se não for especificado o alias e outro analista alterar a rotina para manipular outra tabela, incluindo um dbSelectArea() antes do While, a rotina deixaria de funcionar.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898468" y="3951528"/>
            <a:ext cx="432048" cy="1440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 de cantos arredondados 16"/>
          <p:cNvSpPr/>
          <p:nvPr/>
        </p:nvSpPr>
        <p:spPr>
          <a:xfrm>
            <a:off x="1447948" y="3303456"/>
            <a:ext cx="432048" cy="1440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Retângulo de cantos arredondados 17"/>
          <p:cNvSpPr/>
          <p:nvPr/>
        </p:nvSpPr>
        <p:spPr>
          <a:xfrm>
            <a:off x="997428" y="2971124"/>
            <a:ext cx="432048" cy="1440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33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1187624" y="980728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Proteção – Controle de Transação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1844824"/>
            <a:ext cx="87129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Ao manipular dados garanta que os mesmos foram gravados, utilizando o conceito de atomicidade, ou seja, a transação deve gravar tudo ou nada.</a:t>
            </a:r>
          </a:p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Para isso utilize os comandos de controle de transação Begin Transaction, End Transaction e DisarmTransaction.</a:t>
            </a:r>
          </a:p>
        </p:txBody>
      </p:sp>
      <p:sp>
        <p:nvSpPr>
          <p:cNvPr id="11" name="Arredondar Retângulo em um Canto Diagonal 10"/>
          <p:cNvSpPr/>
          <p:nvPr/>
        </p:nvSpPr>
        <p:spPr>
          <a:xfrm>
            <a:off x="179512" y="3789040"/>
            <a:ext cx="8712968" cy="252028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395536" y="4509120"/>
            <a:ext cx="828092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Ø"/>
              <a:defRPr/>
            </a:pP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Nunca coloque o EndTransaction dentro de um bloco condicional ou a transação poderá ficar presa.</a:t>
            </a:r>
          </a:p>
          <a:p>
            <a:pPr algn="just">
              <a:buFont typeface="Wingdings" pitchFamily="2" charset="2"/>
              <a:buChar char="Ø"/>
              <a:defRPr/>
            </a:pPr>
            <a:endParaRPr lang="pt-BR" sz="22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>
              <a:buFont typeface="Wingdings" pitchFamily="2" charset="2"/>
              <a:buChar char="Ø"/>
              <a:defRPr/>
            </a:pP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Nunca inclua qualquer função que dependa de interação com o usuário durante a transação</a:t>
            </a:r>
          </a:p>
        </p:txBody>
      </p:sp>
      <p:pic>
        <p:nvPicPr>
          <p:cNvPr id="13" name="Imagem 16" descr="ic_importante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2387" y="3933056"/>
            <a:ext cx="1357313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34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1187624" y="980728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Proteção – Controle de Transação</a:t>
            </a:r>
          </a:p>
        </p:txBody>
      </p:sp>
      <p:sp>
        <p:nvSpPr>
          <p:cNvPr id="11" name="Arredondar Retângulo em um Canto Diagonal 10"/>
          <p:cNvSpPr/>
          <p:nvPr/>
        </p:nvSpPr>
        <p:spPr>
          <a:xfrm>
            <a:off x="251520" y="1916832"/>
            <a:ext cx="8568952" cy="4464496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467544" y="2348880"/>
            <a:ext cx="15841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Exemplo: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5576" y="3068960"/>
            <a:ext cx="3924300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CaixaDeTexto 14"/>
          <p:cNvSpPr txBox="1"/>
          <p:nvPr/>
        </p:nvSpPr>
        <p:spPr>
          <a:xfrm>
            <a:off x="5004048" y="3933056"/>
            <a:ext cx="3600400" cy="92333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dirty="0"/>
              <a:t>Se alguma rotina de gravação não for executada corretamente, as anteriores serão desfeitas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35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1187624" y="980728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Proteção – Localização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2132856"/>
            <a:ext cx="8712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Quando a execução de parte do código estiver condicionada a uma determinada localização deve-se testar o conteúdo da variável global cPaisLoc.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552" y="3789040"/>
            <a:ext cx="600075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36</a:t>
            </a:fld>
            <a:endParaRPr lang="pt-BR" dirty="0"/>
          </a:p>
        </p:txBody>
      </p:sp>
      <p:graphicFrame>
        <p:nvGraphicFramePr>
          <p:cNvPr id="11" name="Tabela 10"/>
          <p:cNvGraphicFramePr>
            <a:graphicFrameLocks noGrp="1"/>
          </p:cNvGraphicFramePr>
          <p:nvPr/>
        </p:nvGraphicFramePr>
        <p:xfrm>
          <a:off x="1331640" y="1196752"/>
          <a:ext cx="280803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5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55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Sigla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País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553">
                <a:tc>
                  <a:txBody>
                    <a:bodyPr/>
                    <a:lstStyle/>
                    <a:p>
                      <a:pPr algn="ctr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Angola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553">
                <a:tc>
                  <a:txBody>
                    <a:bodyPr/>
                    <a:lstStyle/>
                    <a:p>
                      <a:pPr algn="ctr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Argentina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553">
                <a:tc>
                  <a:txBody>
                    <a:bodyPr/>
                    <a:lstStyle/>
                    <a:p>
                      <a:pPr algn="ctr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Bolívia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553">
                <a:tc>
                  <a:txBody>
                    <a:bodyPr/>
                    <a:lstStyle/>
                    <a:p>
                      <a:pPr algn="ctr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Brasil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553">
                <a:tc>
                  <a:txBody>
                    <a:bodyPr/>
                    <a:lstStyle/>
                    <a:p>
                      <a:pPr algn="ctr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Chile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553">
                <a:tc>
                  <a:txBody>
                    <a:bodyPr/>
                    <a:lstStyle/>
                    <a:p>
                      <a:pPr algn="ctr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Colômbia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553">
                <a:tc>
                  <a:txBody>
                    <a:bodyPr/>
                    <a:lstStyle/>
                    <a:p>
                      <a:pPr algn="ctr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Costa Rica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553">
                <a:tc>
                  <a:txBody>
                    <a:bodyPr/>
                    <a:lstStyle/>
                    <a:p>
                      <a:pPr algn="ctr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República Dominicana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553">
                <a:tc>
                  <a:txBody>
                    <a:bodyPr/>
                    <a:lstStyle/>
                    <a:p>
                      <a:pPr algn="ctr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EQU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Equador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553">
                <a:tc>
                  <a:txBody>
                    <a:bodyPr/>
                    <a:lstStyle/>
                    <a:p>
                      <a:pPr algn="ctr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EUA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Estados Unidos da América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553">
                <a:tc>
                  <a:txBody>
                    <a:bodyPr/>
                    <a:lstStyle/>
                    <a:p>
                      <a:pPr algn="ctr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Haiti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553">
                <a:tc>
                  <a:txBody>
                    <a:bodyPr/>
                    <a:lstStyle/>
                    <a:p>
                      <a:pPr algn="ctr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México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553">
                <a:tc>
                  <a:txBody>
                    <a:bodyPr/>
                    <a:lstStyle/>
                    <a:p>
                      <a:pPr algn="ctr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Panamá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553">
                <a:tc>
                  <a:txBody>
                    <a:bodyPr/>
                    <a:lstStyle/>
                    <a:p>
                      <a:pPr algn="ctr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Paraguai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553">
                <a:tc>
                  <a:txBody>
                    <a:bodyPr/>
                    <a:lstStyle/>
                    <a:p>
                      <a:pPr algn="ctr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Peru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553">
                <a:tc>
                  <a:txBody>
                    <a:bodyPr/>
                    <a:lstStyle/>
                    <a:p>
                      <a:pPr algn="ctr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Porto Rico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553">
                <a:tc>
                  <a:txBody>
                    <a:bodyPr/>
                    <a:lstStyle/>
                    <a:p>
                      <a:pPr algn="ctr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PTG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Portugal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553">
                <a:tc>
                  <a:txBody>
                    <a:bodyPr/>
                    <a:lstStyle/>
                    <a:p>
                      <a:pPr algn="ctr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El Salvador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553">
                <a:tc>
                  <a:txBody>
                    <a:bodyPr/>
                    <a:lstStyle/>
                    <a:p>
                      <a:pPr algn="ctr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URU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Uruguai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3553">
                <a:tc>
                  <a:txBody>
                    <a:bodyPr/>
                    <a:lstStyle/>
                    <a:p>
                      <a:pPr algn="ctr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VEN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Venezuela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2" name="CaixaDeTexto 11"/>
          <p:cNvSpPr txBox="1"/>
          <p:nvPr/>
        </p:nvSpPr>
        <p:spPr>
          <a:xfrm>
            <a:off x="5004048" y="3429000"/>
            <a:ext cx="3600400" cy="64633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dirty="0"/>
              <a:t>Siglas dos países disponíveis no Protheus para uso com o cPaisLoc.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37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1187624" y="980728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Proteção – Banco de Dados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2132856"/>
            <a:ext cx="87129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No AdvPL podemos trabalhar usando Queries no formato SQL ANSI, criando datasets temporários.</a:t>
            </a:r>
          </a:p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Se a rotina for para bases Top Connect e DBF, precisamos validar para executar de acordo com a base em que o sistema está rodando ou proteger para que não seja executada se a base for DBF.</a:t>
            </a:r>
          </a:p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Para isso utilizamos as instruções #IFDEF TOP, #ELSE e #ENDIF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38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1187624" y="980728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Proteção – Banco de Dados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1700808"/>
            <a:ext cx="8677275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Espaço Reservado para Número de Slide 1"/>
          <p:cNvSpPr txBox="1">
            <a:spLocks noGrp="1"/>
          </p:cNvSpPr>
          <p:nvPr/>
        </p:nvSpPr>
        <p:spPr bwMode="auto">
          <a:xfrm>
            <a:off x="8710613" y="6615113"/>
            <a:ext cx="4905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fld id="{93F4CB4C-2F9E-4754-AE67-0861CB9F035F}" type="slidenum">
              <a:rPr lang="pt-BR" sz="800" b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+mn-cs"/>
              </a:rPr>
              <a:pPr algn="r">
                <a:defRPr/>
              </a:pPr>
              <a:t>39</a:t>
            </a:fld>
            <a:endParaRPr lang="pt-BR" sz="800" b="1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11267" name="Espaço Reservado para Texto 2"/>
          <p:cNvSpPr>
            <a:spLocks noGrp="1"/>
          </p:cNvSpPr>
          <p:nvPr>
            <p:ph type="body" sz="quarter" idx="4294967295"/>
          </p:nvPr>
        </p:nvSpPr>
        <p:spPr>
          <a:xfrm>
            <a:off x="2268538" y="115888"/>
            <a:ext cx="5832475" cy="503237"/>
          </a:xfrm>
        </p:spPr>
        <p:txBody>
          <a:bodyPr/>
          <a:lstStyle/>
          <a:p>
            <a:pPr algn="ctr" eaLnBrk="1" hangingPunct="1">
              <a:buNone/>
            </a:pPr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  <a:endParaRPr lang="pt-BR" sz="2600" dirty="0">
              <a:solidFill>
                <a:schemeClr val="bg1"/>
              </a:solidFill>
            </a:endParaRPr>
          </a:p>
        </p:txBody>
      </p:sp>
      <p:sp>
        <p:nvSpPr>
          <p:cNvPr id="11" name="CaixaDeTexto 6"/>
          <p:cNvSpPr txBox="1">
            <a:spLocks noChangeArrowheads="1"/>
          </p:cNvSpPr>
          <p:nvPr/>
        </p:nvSpPr>
        <p:spPr bwMode="auto">
          <a:xfrm>
            <a:off x="4781550" y="1693863"/>
            <a:ext cx="411162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I) Escrevendo o Código Fonte</a:t>
            </a:r>
          </a:p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II) Visibilidade e Nomenclatura</a:t>
            </a:r>
          </a:p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III) Proteção de Rotinas</a:t>
            </a:r>
          </a:p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IV)Desempenho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pt-BR" sz="1600" dirty="0"/>
              <a:t> </a:t>
            </a:r>
            <a:r>
              <a:rPr lang="pt-BR" sz="1600" dirty="0">
                <a:latin typeface="+mj-lt"/>
                <a:cs typeface="+mn-cs"/>
              </a:rPr>
              <a:t>Comparativo entre funções</a:t>
            </a:r>
          </a:p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V) Dicas 	</a:t>
            </a:r>
          </a:p>
        </p:txBody>
      </p:sp>
      <p:sp>
        <p:nvSpPr>
          <p:cNvPr id="12" name="CaixaDeTexto 11"/>
          <p:cNvSpPr txBox="1">
            <a:spLocks noChangeArrowheads="1"/>
          </p:cNvSpPr>
          <p:nvPr/>
        </p:nvSpPr>
        <p:spPr bwMode="auto">
          <a:xfrm>
            <a:off x="5172075" y="1217613"/>
            <a:ext cx="3286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BR" sz="2000" b="1" dirty="0">
                <a:solidFill>
                  <a:srgbClr val="3A6598"/>
                </a:solidFill>
                <a:latin typeface="+mj-lt"/>
                <a:cs typeface="+mn-cs"/>
              </a:rPr>
              <a:t>ÍNDICE</a:t>
            </a:r>
          </a:p>
        </p:txBody>
      </p:sp>
      <p:pic>
        <p:nvPicPr>
          <p:cNvPr id="11270" name="Picture 2" descr="3330516135_37922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6313" y="1241425"/>
            <a:ext cx="35242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1" name="Picture 2" descr="C:\Projetos TOTVS\PPT\sombrinha-vertical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175" y="765175"/>
            <a:ext cx="314325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Imagem 18" descr="85382342.jpg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683569" y="1358065"/>
            <a:ext cx="3026699" cy="226415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40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1187624" y="980728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Desempenho – Comparativo entre Funções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2132856"/>
            <a:ext cx="87129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Comparativo entre algumas funções que podem ser substituídas por outras similares que melhoram o desempenho da rotina.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41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1187624" y="980728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Desempenho – Comparativo entre Funções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1772816"/>
            <a:ext cx="871296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MsSeek() Versus dbSeek()</a:t>
            </a:r>
          </a:p>
          <a:p>
            <a:pPr algn="just"/>
            <a:endParaRPr lang="pt-BR" sz="22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MsSeek() possui as mesmas funcionalidades básicas da função DbSeek(), com a vantagem de não necessitar acessar novamente a base de dados para localizar uma informação já utilizada pela thread (conexão) ativa.</a:t>
            </a:r>
          </a:p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Desta forma, a thread mantém em memória os dados necessários para reposicionar os registros já localizados através do comando DbSeek (no caso o Recno()) de forma que a aplicação pode simplesmente efetuar o posicionamento sem executar novamente a busca.</a:t>
            </a:r>
          </a:p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A diferença entre o DbSeek() e o MsSeek() é notada em aplicações com grande volume de posicionamentos, como relatórios, que necessitam referenciar diversas vezes o mesmo registro durante uma execução.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42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1187624" y="980728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Desempenho – Comparativo entre Funções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1772816"/>
            <a:ext cx="871296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GetMV</a:t>
            </a:r>
            <a:r>
              <a:rPr lang="pt-BR" sz="22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() Versus </a:t>
            </a:r>
            <a:r>
              <a:rPr lang="pt-BR" sz="2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GetNewPar</a:t>
            </a:r>
            <a:r>
              <a:rPr lang="pt-BR" sz="22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() Versus </a:t>
            </a:r>
            <a:r>
              <a:rPr lang="pt-BR" sz="2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SuperGetMV</a:t>
            </a:r>
            <a:r>
              <a:rPr lang="pt-BR" sz="22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()</a:t>
            </a:r>
          </a:p>
          <a:p>
            <a:pPr algn="just"/>
            <a:endParaRPr lang="pt-BR" sz="22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/>
            <a:r>
              <a:rPr lang="pt-BR" sz="22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GetMV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() retorna o conteúdo de um parâmetro e se ele não existir o seu retorno dependerá dos parâmetros </a:t>
            </a:r>
            <a:r>
              <a:rPr lang="pt-BR" sz="22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lHelp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 e </a:t>
            </a:r>
            <a:r>
              <a:rPr lang="pt-BR" sz="22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xDefault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. Se </a:t>
            </a:r>
            <a:r>
              <a:rPr lang="pt-BR" sz="22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xDefault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 for informado o retorno, caso não exista, será </a:t>
            </a:r>
            <a:r>
              <a:rPr lang="pt-BR" sz="22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xDefault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 e se não informado retorna .F. e exibe Help para </a:t>
            </a:r>
            <a:r>
              <a:rPr lang="pt-BR" sz="22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lHelp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 falso.</a:t>
            </a:r>
          </a:p>
          <a:p>
            <a:pPr algn="just"/>
            <a:r>
              <a:rPr lang="pt-BR" sz="22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SuperGetMV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() diferencia-se por armazenar em um </a:t>
            </a:r>
            <a:r>
              <a:rPr lang="pt-BR" sz="22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array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 os parâmetros consultados, mas caso seja a primeira consulta ao parâmetro, aciona a função </a:t>
            </a:r>
            <a:r>
              <a:rPr lang="pt-BR" sz="22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GetMV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(). </a:t>
            </a:r>
          </a:p>
          <a:p>
            <a:pPr algn="just"/>
            <a:r>
              <a:rPr lang="pt-BR" sz="22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GetNewPar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() simplesmente aciona a rotina </a:t>
            </a:r>
            <a:r>
              <a:rPr lang="pt-BR" sz="22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SuperGetMV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().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43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1187624" y="980728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Desempenho – Comparativo entre Funções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1772816"/>
            <a:ext cx="87129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Posicione() Versus </a:t>
            </a:r>
            <a:r>
              <a:rPr lang="pt-BR" sz="2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GetADVFVal</a:t>
            </a:r>
            <a:r>
              <a:rPr lang="pt-BR" sz="22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()</a:t>
            </a:r>
          </a:p>
          <a:p>
            <a:pPr algn="just"/>
            <a:endParaRPr lang="pt-BR" sz="22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/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A função POSICIONE() permite o retorno do conteúdo de um campo de um registro de uma tabela especificado através de uma chave de busca enquanto que o </a:t>
            </a:r>
            <a:r>
              <a:rPr lang="pt-BR" sz="22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GetAdvFVal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() retorna vários campos.</a:t>
            </a:r>
          </a:p>
          <a:p>
            <a:pPr algn="just"/>
            <a:endParaRPr lang="pt-BR" sz="22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11" name="Arredondar Retângulo em um Canto Diagonal 10"/>
          <p:cNvSpPr/>
          <p:nvPr/>
        </p:nvSpPr>
        <p:spPr>
          <a:xfrm>
            <a:off x="251520" y="4581128"/>
            <a:ext cx="8568952" cy="1512168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solidFill>
                <a:schemeClr val="tx2">
                  <a:lumMod val="75000"/>
                </a:schemeClr>
              </a:solidFill>
            </a:endParaRPr>
          </a:p>
          <a:p>
            <a:pPr algn="ctr">
              <a:defRPr/>
            </a:pPr>
            <a:endParaRPr lang="pt-BR" dirty="0">
              <a:solidFill>
                <a:schemeClr val="tx2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Ambas as funções devem ser protegidas com 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GetArea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() e 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RestArea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()</a:t>
            </a:r>
          </a:p>
          <a:p>
            <a:pPr algn="ctr">
              <a:defRPr/>
            </a:pPr>
            <a:endParaRPr lang="pt-BR" dirty="0"/>
          </a:p>
        </p:txBody>
      </p:sp>
      <p:pic>
        <p:nvPicPr>
          <p:cNvPr id="12" name="Imagem 16" descr="ic_importante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4" y="4797152"/>
            <a:ext cx="1357313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Espaço Reservado para Número de Slide 1"/>
          <p:cNvSpPr txBox="1">
            <a:spLocks noGrp="1"/>
          </p:cNvSpPr>
          <p:nvPr/>
        </p:nvSpPr>
        <p:spPr bwMode="auto">
          <a:xfrm>
            <a:off x="8710613" y="6615113"/>
            <a:ext cx="4905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fld id="{93F4CB4C-2F9E-4754-AE67-0861CB9F035F}" type="slidenum">
              <a:rPr lang="pt-BR" sz="800" b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+mn-cs"/>
              </a:rPr>
              <a:pPr algn="r">
                <a:defRPr/>
              </a:pPr>
              <a:t>44</a:t>
            </a:fld>
            <a:endParaRPr lang="pt-BR" sz="800" b="1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11267" name="Espaço Reservado para Texto 2"/>
          <p:cNvSpPr>
            <a:spLocks noGrp="1"/>
          </p:cNvSpPr>
          <p:nvPr>
            <p:ph type="body" sz="quarter" idx="4294967295"/>
          </p:nvPr>
        </p:nvSpPr>
        <p:spPr>
          <a:xfrm>
            <a:off x="2268538" y="115888"/>
            <a:ext cx="5832475" cy="503237"/>
          </a:xfrm>
        </p:spPr>
        <p:txBody>
          <a:bodyPr/>
          <a:lstStyle/>
          <a:p>
            <a:pPr algn="ctr" eaLnBrk="1" hangingPunct="1">
              <a:buNone/>
            </a:pPr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  <a:endParaRPr lang="pt-BR" sz="2600" dirty="0">
              <a:solidFill>
                <a:schemeClr val="bg1"/>
              </a:solidFill>
            </a:endParaRPr>
          </a:p>
        </p:txBody>
      </p:sp>
      <p:sp>
        <p:nvSpPr>
          <p:cNvPr id="11" name="CaixaDeTexto 6"/>
          <p:cNvSpPr txBox="1">
            <a:spLocks noChangeArrowheads="1"/>
          </p:cNvSpPr>
          <p:nvPr/>
        </p:nvSpPr>
        <p:spPr bwMode="auto">
          <a:xfrm>
            <a:off x="4781550" y="1693863"/>
            <a:ext cx="4111625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I) Escrevendo o Código Fonte</a:t>
            </a:r>
          </a:p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II) Visibilidade e Nomenclatura</a:t>
            </a:r>
          </a:p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III) Proteção de Rotinas</a:t>
            </a:r>
          </a:p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IV)Desempenho</a:t>
            </a:r>
          </a:p>
          <a:p>
            <a:pPr>
              <a:defRPr/>
            </a:pPr>
            <a:r>
              <a:rPr lang="pt-BR" sz="1600" b="1" dirty="0">
                <a:latin typeface="+mj-lt"/>
                <a:cs typeface="+mn-cs"/>
              </a:rPr>
              <a:t>V) Dicas 	</a:t>
            </a:r>
          </a:p>
          <a:p>
            <a:pPr marL="457200" lvl="2">
              <a:buFont typeface="Arial" pitchFamily="34" charset="0"/>
              <a:buChar char="•"/>
              <a:defRPr/>
            </a:pPr>
            <a:r>
              <a:rPr lang="pt-BR" sz="1600" dirty="0"/>
              <a:t> </a:t>
            </a:r>
            <a:r>
              <a:rPr lang="pt-BR" sz="1600" dirty="0">
                <a:latin typeface="+mj-lt"/>
                <a:cs typeface="+mn-cs"/>
              </a:rPr>
              <a:t>Dicas úteis</a:t>
            </a:r>
          </a:p>
          <a:p>
            <a:pPr>
              <a:defRPr/>
            </a:pPr>
            <a:endParaRPr lang="pt-BR" sz="1600" b="1" dirty="0">
              <a:latin typeface="+mj-lt"/>
              <a:cs typeface="+mn-cs"/>
            </a:endParaRPr>
          </a:p>
        </p:txBody>
      </p:sp>
      <p:sp>
        <p:nvSpPr>
          <p:cNvPr id="12" name="CaixaDeTexto 11"/>
          <p:cNvSpPr txBox="1">
            <a:spLocks noChangeArrowheads="1"/>
          </p:cNvSpPr>
          <p:nvPr/>
        </p:nvSpPr>
        <p:spPr bwMode="auto">
          <a:xfrm>
            <a:off x="5172075" y="1217613"/>
            <a:ext cx="3286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BR" sz="2000" b="1" dirty="0">
                <a:solidFill>
                  <a:srgbClr val="3A6598"/>
                </a:solidFill>
                <a:latin typeface="+mj-lt"/>
                <a:cs typeface="+mn-cs"/>
              </a:rPr>
              <a:t>ÍNDICE</a:t>
            </a:r>
          </a:p>
        </p:txBody>
      </p:sp>
      <p:pic>
        <p:nvPicPr>
          <p:cNvPr id="11270" name="Picture 2" descr="3330516135_37922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6313" y="1241425"/>
            <a:ext cx="35242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1" name="Picture 2" descr="C:\Projetos TOTVS\PPT\sombrinha-vertical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175" y="765175"/>
            <a:ext cx="314325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Imagem 18" descr="85382342.jpg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683569" y="1358065"/>
            <a:ext cx="3026699" cy="226415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45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1187624" y="980728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Dicas – Algumas dicas úteis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2132856"/>
            <a:ext cx="8712968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Operador “==“ não é o mesmo que “=“. Embora o compilador não acuse erro, o resultado da comparação não será o mesmo. Espaços em branco fazem diferença na comparação, utilize AllTrim para removê-los</a:t>
            </a:r>
          </a:p>
          <a:p>
            <a:pPr algn="just">
              <a:buFont typeface="Wingdings" pitchFamily="2" charset="2"/>
              <a:buChar char="ü"/>
            </a:pPr>
            <a:endParaRPr lang="pt-BR" sz="22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>
              <a:buFont typeface="Wingdings" pitchFamily="2" charset="2"/>
              <a:buChar char="ü"/>
            </a:pP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Ao efetuar um Seek na tabela, cuidado com espaços em branco, não utilize AllTrim para resolver, pois isso pode mascarar um erro maior, como a diferença entre o tamanho dos campos no banco de dados.</a:t>
            </a:r>
          </a:p>
          <a:p>
            <a:pPr algn="just">
              <a:buFont typeface="Wingdings" pitchFamily="2" charset="2"/>
              <a:buChar char="ü"/>
            </a:pPr>
            <a:endParaRPr lang="pt-BR" sz="22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>
              <a:buFont typeface="Wingdings" pitchFamily="2" charset="2"/>
              <a:buChar char="ü"/>
            </a:pP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Cuidado com o conceito de Filial no sistema, ao utilizar um Seek com a função xFilial, utilize o alias correto como parâmetro.</a:t>
            </a:r>
          </a:p>
          <a:p>
            <a:pPr algn="just">
              <a:buFont typeface="Wingdings" pitchFamily="2" charset="2"/>
              <a:buChar char="ü"/>
            </a:pPr>
            <a:endParaRPr lang="pt-BR" sz="22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>
              <a:buFont typeface="Wingdings" pitchFamily="2" charset="2"/>
              <a:buChar char="ü"/>
            </a:pP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Chaves de tabelas devem ser campos tipo caractere. Não utilize numéricos.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2241550" y="115888"/>
            <a:ext cx="5786438" cy="500062"/>
          </a:xfrm>
        </p:spPr>
        <p:txBody>
          <a:bodyPr/>
          <a:lstStyle/>
          <a:p>
            <a:pPr eaLnBrk="1" hangingPunct="1"/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F3A655-1D38-4A61-AD30-4FD32DD66F6F}" type="slidenum">
              <a:rPr lang="pt-BR" smtClean="0"/>
              <a:pPr>
                <a:defRPr/>
              </a:pPr>
              <a:t>46</a:t>
            </a:fld>
            <a:endParaRPr lang="pt-BR" dirty="0"/>
          </a:p>
        </p:txBody>
      </p:sp>
      <p:grpSp>
        <p:nvGrpSpPr>
          <p:cNvPr id="2" name="Grupo 11"/>
          <p:cNvGrpSpPr/>
          <p:nvPr/>
        </p:nvGrpSpPr>
        <p:grpSpPr>
          <a:xfrm>
            <a:off x="107504" y="908720"/>
            <a:ext cx="8928992" cy="576064"/>
            <a:chOff x="1143025" y="1500207"/>
            <a:chExt cx="1502248" cy="926833"/>
          </a:xfrm>
          <a:solidFill>
            <a:schemeClr val="bg1">
              <a:lumMod val="85000"/>
            </a:schemeClr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tângulo de cantos arredondados 6"/>
            <p:cNvSpPr/>
            <p:nvPr/>
          </p:nvSpPr>
          <p:spPr>
            <a:xfrm>
              <a:off x="1143025" y="1500207"/>
              <a:ext cx="1502248" cy="92683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1905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1170171" y="1527353"/>
              <a:ext cx="1447956" cy="87254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5730" tIns="125730" rIns="125730" bIns="125730" spcCol="1270" anchor="ctr"/>
            <a:lstStyle/>
            <a:p>
              <a:pPr algn="ctr" defTabSz="14668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pt-BR" sz="3300" dirty="0"/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1187624" y="980728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Dicas – Algumas dicas úteis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79512" y="2132856"/>
            <a:ext cx="87129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Em Loops condicionados ao fim de uma tabela não esqueça de fazer um Skip, preferencialmente usando o alias ( Ex. SNL-&gt;(dbSkip()) ). Se houver uma condição dentro do While, verifique se o Skip será executado.</a:t>
            </a:r>
          </a:p>
          <a:p>
            <a:pPr algn="just">
              <a:buFont typeface="Wingdings" pitchFamily="2" charset="2"/>
              <a:buChar char="ü"/>
            </a:pPr>
            <a:endParaRPr lang="pt-BR" sz="2200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  <a:p>
            <a:pPr algn="just">
              <a:buFont typeface="Wingdings" pitchFamily="2" charset="2"/>
              <a:buChar char="ü"/>
            </a:pPr>
            <a:r>
              <a:rPr lang="pt-BR" sz="2200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Sempre que possível utilize a passagem de parâmetros por referência no lugar de variáveis tipo Private.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Espaço Reservado para Número de Slide 1"/>
          <p:cNvSpPr txBox="1">
            <a:spLocks noGrp="1"/>
          </p:cNvSpPr>
          <p:nvPr/>
        </p:nvSpPr>
        <p:spPr bwMode="auto">
          <a:xfrm>
            <a:off x="8716963" y="6607175"/>
            <a:ext cx="4905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fld id="{1BF92E85-B48F-4D12-BD2B-A636B11AD7CF}" type="slidenum">
              <a:rPr lang="pt-BR" sz="800" b="1">
                <a:solidFill>
                  <a:schemeClr val="tx1">
                    <a:lumMod val="95000"/>
                    <a:lumOff val="5000"/>
                  </a:schemeClr>
                </a:solidFill>
                <a:latin typeface="Myriad Pro" pitchFamily="34" charset="0"/>
                <a:cs typeface="+mn-cs"/>
              </a:rPr>
              <a:pPr algn="r">
                <a:defRPr/>
              </a:pPr>
              <a:t>47</a:t>
            </a:fld>
            <a:endParaRPr lang="pt-BR" sz="800" b="1" dirty="0">
              <a:solidFill>
                <a:schemeClr val="tx1">
                  <a:lumMod val="95000"/>
                  <a:lumOff val="5000"/>
                </a:schemeClr>
              </a:solidFill>
              <a:latin typeface="Myriad Pro" pitchFamily="34" charset="0"/>
              <a:cs typeface="+mn-cs"/>
            </a:endParaRPr>
          </a:p>
        </p:txBody>
      </p:sp>
      <p:sp>
        <p:nvSpPr>
          <p:cNvPr id="4102" name="CaixaDeTexto 6"/>
          <p:cNvSpPr txBox="1">
            <a:spLocks noChangeArrowheads="1"/>
          </p:cNvSpPr>
          <p:nvPr/>
        </p:nvSpPr>
        <p:spPr bwMode="auto">
          <a:xfrm>
            <a:off x="4895850" y="2433638"/>
            <a:ext cx="4140646" cy="96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00050" indent="-400050" defTabSz="266700">
              <a:lnSpc>
                <a:spcPct val="150000"/>
              </a:lnSpc>
              <a:defRPr/>
            </a:pPr>
            <a:r>
              <a:rPr lang="pt-BR" sz="2000" dirty="0">
                <a:latin typeface="+mj-lt"/>
                <a:cs typeface="+mn-cs"/>
              </a:rPr>
              <a:t>Milton J.dos Santos</a:t>
            </a:r>
          </a:p>
          <a:p>
            <a:pPr marL="400050" indent="-400050" defTabSz="266700">
              <a:lnSpc>
                <a:spcPct val="150000"/>
              </a:lnSpc>
              <a:defRPr/>
            </a:pPr>
            <a:r>
              <a:rPr lang="pt-BR" sz="2000" dirty="0">
                <a:latin typeface="+mj-lt"/>
                <a:cs typeface="+mn-cs"/>
                <a:hlinkClick r:id="rId2"/>
              </a:rPr>
              <a:t>Milton.Santos@totvspartners.com.br</a:t>
            </a:r>
            <a:endParaRPr lang="pt-BR" sz="2000" dirty="0">
              <a:latin typeface="+mj-lt"/>
              <a:cs typeface="+mn-cs"/>
            </a:endParaRPr>
          </a:p>
        </p:txBody>
      </p:sp>
      <p:sp>
        <p:nvSpPr>
          <p:cNvPr id="4103" name="CaixaDeTexto 12"/>
          <p:cNvSpPr txBox="1">
            <a:spLocks noChangeArrowheads="1"/>
          </p:cNvSpPr>
          <p:nvPr/>
        </p:nvSpPr>
        <p:spPr bwMode="auto">
          <a:xfrm>
            <a:off x="5286375" y="1844675"/>
            <a:ext cx="3286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BR" sz="2000" b="1" dirty="0">
                <a:solidFill>
                  <a:schemeClr val="tx2"/>
                </a:solidFill>
                <a:latin typeface="+mj-lt"/>
                <a:cs typeface="+mn-cs"/>
              </a:rPr>
              <a:t>QUESTÕES</a:t>
            </a:r>
          </a:p>
        </p:txBody>
      </p:sp>
      <p:pic>
        <p:nvPicPr>
          <p:cNvPr id="14341" name="Picture 2" descr="C:\Projetos TOTVS\PPT\sombrinha-vertical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4838" y="1209675"/>
            <a:ext cx="314325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2" name="Picture 2" descr="3330516135_39094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33950" y="1857375"/>
            <a:ext cx="35242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Imagem 9" descr="85382342.jpg"/>
          <p:cNvPicPr>
            <a:picLocks noChangeAspect="1"/>
          </p:cNvPicPr>
          <p:nvPr/>
        </p:nvPicPr>
        <p:blipFill>
          <a:blip r:embed="rId5" cstate="screen"/>
          <a:srcRect/>
          <a:stretch>
            <a:fillRect/>
          </a:stretch>
        </p:blipFill>
        <p:spPr>
          <a:xfrm>
            <a:off x="688045" y="1714488"/>
            <a:ext cx="3026699" cy="226415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344" name="Espaço Reservado para Texto 2"/>
          <p:cNvSpPr>
            <a:spLocks noGrp="1"/>
          </p:cNvSpPr>
          <p:nvPr>
            <p:ph type="body" sz="quarter" idx="4294967295"/>
          </p:nvPr>
        </p:nvSpPr>
        <p:spPr>
          <a:xfrm>
            <a:off x="2268538" y="115888"/>
            <a:ext cx="5832475" cy="503237"/>
          </a:xfrm>
        </p:spPr>
        <p:txBody>
          <a:bodyPr/>
          <a:lstStyle/>
          <a:p>
            <a:pPr algn="ctr" eaLnBrk="1" hangingPunct="1">
              <a:buNone/>
            </a:pPr>
            <a:r>
              <a:rPr lang="pt-BR" sz="2800" dirty="0">
                <a:solidFill>
                  <a:schemeClr val="bg1"/>
                </a:solidFill>
              </a:rPr>
              <a:t>Boas práticas de programação</a:t>
            </a:r>
            <a:endParaRPr lang="pt-BR" sz="2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esignTOTVS2010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2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3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4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5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6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7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8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9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0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2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3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4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5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6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7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8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9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0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2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3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4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5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6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7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8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9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0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1640</TotalTime>
  <Words>2522</Words>
  <Application>Microsoft Office PowerPoint</Application>
  <PresentationFormat>Apresentação na tela (4:3)</PresentationFormat>
  <Paragraphs>398</Paragraphs>
  <Slides>47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47</vt:i4>
      </vt:variant>
    </vt:vector>
  </HeadingPairs>
  <TitlesOfParts>
    <vt:vector size="52" baseType="lpstr">
      <vt:lpstr>Arial</vt:lpstr>
      <vt:lpstr>Myriad Pro</vt:lpstr>
      <vt:lpstr>Calibri</vt:lpstr>
      <vt:lpstr>Wingdings</vt:lpstr>
      <vt:lpstr>DesignTOTVS2010</vt:lpstr>
      <vt:lpstr>Apresentação do PowerPoint</vt:lpstr>
      <vt:lpstr>Apresentação do PowerPoint</vt:lpstr>
      <vt:lpstr>Área de cabeçalho   </vt:lpstr>
      <vt:lpstr>Área de identificação           </vt:lpstr>
      <vt:lpstr>Área de declaração de variáveis e ajustes iniciais           </vt:lpstr>
      <vt:lpstr>Corpo do programa          </vt:lpstr>
      <vt:lpstr>Área de encerramento         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Totvs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Entendendo o novo padrão</dc:title>
  <dc:creator>Simone Solato</dc:creator>
  <cp:lastModifiedBy>Milton J.dos Santos</cp:lastModifiedBy>
  <cp:revision>154</cp:revision>
  <dcterms:created xsi:type="dcterms:W3CDTF">2009-09-29T13:42:24Z</dcterms:created>
  <dcterms:modified xsi:type="dcterms:W3CDTF">2024-03-11T14:01:30Z</dcterms:modified>
</cp:coreProperties>
</file>