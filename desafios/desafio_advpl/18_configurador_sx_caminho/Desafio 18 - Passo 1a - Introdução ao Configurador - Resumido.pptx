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1" r:id="rId1"/>
    <p:sldMasterId id="2147483665" r:id="rId2"/>
  </p:sldMasterIdLst>
  <p:notesMasterIdLst>
    <p:notesMasterId r:id="rId77"/>
  </p:notesMasterIdLst>
  <p:handoutMasterIdLst>
    <p:handoutMasterId r:id="rId78"/>
  </p:handoutMasterIdLst>
  <p:sldIdLst>
    <p:sldId id="277" r:id="rId3"/>
    <p:sldId id="318" r:id="rId4"/>
    <p:sldId id="560" r:id="rId5"/>
    <p:sldId id="561" r:id="rId6"/>
    <p:sldId id="638" r:id="rId7"/>
    <p:sldId id="594" r:id="rId8"/>
    <p:sldId id="595" r:id="rId9"/>
    <p:sldId id="596" r:id="rId10"/>
    <p:sldId id="598" r:id="rId11"/>
    <p:sldId id="600" r:id="rId12"/>
    <p:sldId id="599" r:id="rId13"/>
    <p:sldId id="648" r:id="rId14"/>
    <p:sldId id="601" r:id="rId15"/>
    <p:sldId id="602" r:id="rId16"/>
    <p:sldId id="606" r:id="rId17"/>
    <p:sldId id="607" r:id="rId18"/>
    <p:sldId id="608" r:id="rId19"/>
    <p:sldId id="609" r:id="rId20"/>
    <p:sldId id="611" r:id="rId21"/>
    <p:sldId id="616" r:id="rId22"/>
    <p:sldId id="612" r:id="rId23"/>
    <p:sldId id="617" r:id="rId24"/>
    <p:sldId id="619" r:id="rId25"/>
    <p:sldId id="620" r:id="rId26"/>
    <p:sldId id="649" r:id="rId27"/>
    <p:sldId id="621" r:id="rId28"/>
    <p:sldId id="622" r:id="rId29"/>
    <p:sldId id="627" r:id="rId30"/>
    <p:sldId id="625" r:id="rId31"/>
    <p:sldId id="626" r:id="rId32"/>
    <p:sldId id="628" r:id="rId33"/>
    <p:sldId id="629" r:id="rId34"/>
    <p:sldId id="630" r:id="rId35"/>
    <p:sldId id="631" r:id="rId36"/>
    <p:sldId id="639" r:id="rId37"/>
    <p:sldId id="641" r:id="rId38"/>
    <p:sldId id="632" r:id="rId39"/>
    <p:sldId id="634" r:id="rId40"/>
    <p:sldId id="633" r:id="rId41"/>
    <p:sldId id="636" r:id="rId42"/>
    <p:sldId id="637" r:id="rId43"/>
    <p:sldId id="643" r:id="rId44"/>
    <p:sldId id="644" r:id="rId45"/>
    <p:sldId id="645" r:id="rId46"/>
    <p:sldId id="646" r:id="rId47"/>
    <p:sldId id="650" r:id="rId48"/>
    <p:sldId id="652" r:id="rId49"/>
    <p:sldId id="653" r:id="rId50"/>
    <p:sldId id="654" r:id="rId51"/>
    <p:sldId id="656" r:id="rId52"/>
    <p:sldId id="657" r:id="rId53"/>
    <p:sldId id="659" r:id="rId54"/>
    <p:sldId id="658" r:id="rId55"/>
    <p:sldId id="661" r:id="rId56"/>
    <p:sldId id="660" r:id="rId57"/>
    <p:sldId id="662" r:id="rId58"/>
    <p:sldId id="663" r:id="rId59"/>
    <p:sldId id="667" r:id="rId60"/>
    <p:sldId id="664" r:id="rId61"/>
    <p:sldId id="668" r:id="rId62"/>
    <p:sldId id="670" r:id="rId63"/>
    <p:sldId id="669" r:id="rId64"/>
    <p:sldId id="666" r:id="rId65"/>
    <p:sldId id="665" r:id="rId66"/>
    <p:sldId id="671" r:id="rId67"/>
    <p:sldId id="672" r:id="rId68"/>
    <p:sldId id="673" r:id="rId69"/>
    <p:sldId id="676" r:id="rId70"/>
    <p:sldId id="674" r:id="rId71"/>
    <p:sldId id="677" r:id="rId72"/>
    <p:sldId id="675" r:id="rId73"/>
    <p:sldId id="678" r:id="rId74"/>
    <p:sldId id="679" r:id="rId75"/>
    <p:sldId id="680" r:id="rId76"/>
  </p:sldIdLst>
  <p:sldSz cx="9144000" cy="6858000" type="screen4x3"/>
  <p:notesSz cx="7099300" cy="10234613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91" autoAdjust="0"/>
    <p:restoredTop sz="87479" autoAdjust="0"/>
  </p:normalViewPr>
  <p:slideViewPr>
    <p:cSldViewPr snapToGrid="0">
      <p:cViewPr varScale="1">
        <p:scale>
          <a:sx n="92" d="100"/>
          <a:sy n="92" d="100"/>
        </p:scale>
        <p:origin x="132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770"/>
    </p:cViewPr>
  </p:sorterViewPr>
  <p:notesViewPr>
    <p:cSldViewPr snapToGrid="0" showGuides="1">
      <p:cViewPr varScale="1">
        <p:scale>
          <a:sx n="50" d="100"/>
          <a:sy n="50" d="100"/>
        </p:scale>
        <p:origin x="-1956" y="-114"/>
      </p:cViewPr>
      <p:guideLst>
        <p:guide orient="horz" pos="3223"/>
        <p:guide pos="2236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78216-8E05-46A3-9511-040E6EA4D69D}" type="datetimeFigureOut">
              <a:rPr lang="pt-BR" smtClean="0"/>
              <a:pPr/>
              <a:t>25/07/2020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02C146-FF48-4378-BF1A-3828D5B72E56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8970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04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fld id="{ABBC1573-7351-454F-9DDA-E2BA29B9648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1915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BDC2CA8-8931-41B4-A3F9-3E130BCCE65F}" type="slidenum">
              <a:rPr lang="pt-BR"/>
              <a:pPr/>
              <a:t>1</a:t>
            </a:fld>
            <a:endParaRPr lang="pt-BR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pt-BR" smtClean="0"/>
              <a:t>Breve passada sobre os objetivos do curso e uma apresentação do instrutor e dos alunos.</a:t>
            </a:r>
          </a:p>
        </p:txBody>
      </p:sp>
    </p:spTree>
    <p:extLst>
      <p:ext uri="{BB962C8B-B14F-4D97-AF65-F5344CB8AC3E}">
        <p14:creationId xmlns:p14="http://schemas.microsoft.com/office/powerpoint/2010/main" val="2210207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6B8506-7ED2-4112-BFDE-36DAE8009C71}" type="slidenum">
              <a:rPr lang="pt-BR" smtClean="0"/>
              <a:pPr>
                <a:defRPr/>
              </a:pPr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2362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6B8506-7ED2-4112-BFDE-36DAE8009C71}" type="slidenum">
              <a:rPr lang="pt-BR" smtClean="0"/>
              <a:pPr>
                <a:defRPr/>
              </a:pPr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2148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6B8506-7ED2-4112-BFDE-36DAE8009C71}" type="slidenum">
              <a:rPr lang="pt-BR" smtClean="0"/>
              <a:pPr>
                <a:defRPr/>
              </a:pPr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75635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2421AE-9814-481C-8AF6-91BFF9A54A38}" type="slidenum">
              <a:rPr lang="pt-BR" smtClean="0"/>
              <a:pPr/>
              <a:t>6</a:t>
            </a:fld>
            <a:endParaRPr lang="pt-BR" smtClean="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469189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2421AE-9814-481C-8AF6-91BFF9A54A38}" type="slidenum">
              <a:rPr lang="pt-BR" smtClean="0"/>
              <a:pPr/>
              <a:t>9</a:t>
            </a:fld>
            <a:endParaRPr lang="pt-BR" smtClean="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104157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7FA9B6D-093A-45AD-8BA8-4A9CE94C8F48}" type="slidenum">
              <a:rPr lang="pt-BR" smtClean="0"/>
              <a:pPr/>
              <a:t>13</a:t>
            </a:fld>
            <a:endParaRPr lang="pt-BR" smtClean="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517152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14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6222267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15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689115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16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502368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17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2206958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18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0920303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19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081389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20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4195684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21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7223876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22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928176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23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513111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24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753833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25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0108768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26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42181164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27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8042033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29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37105907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DE9267E-1687-4DE2-8721-67E1FA5790B5}" type="slidenum">
              <a:rPr lang="pt-BR" smtClean="0"/>
              <a:pPr/>
              <a:t>30</a:t>
            </a:fld>
            <a:endParaRPr lang="pt-BR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BR" smtClean="0"/>
          </a:p>
        </p:txBody>
      </p:sp>
    </p:spTree>
    <p:extLst>
      <p:ext uri="{BB962C8B-B14F-4D97-AF65-F5344CB8AC3E}">
        <p14:creationId xmlns:p14="http://schemas.microsoft.com/office/powerpoint/2010/main" val="1377647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9144000" cy="1285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11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00694" y="142852"/>
            <a:ext cx="3500462" cy="100013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7" r:id="rId2"/>
    <p:sldLayoutId id="2147483668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9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1762125" y="1830388"/>
            <a:ext cx="7153275" cy="1398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en-US" sz="4800" b="1" i="1" dirty="0">
                <a:solidFill>
                  <a:srgbClr val="002060"/>
                </a:solidFill>
                <a:latin typeface="Tahoma" pitchFamily="34" charset="0"/>
              </a:rPr>
              <a:t>Boas </a:t>
            </a:r>
            <a:r>
              <a:rPr lang="en-US" sz="4800" b="1" i="1" dirty="0" err="1">
                <a:solidFill>
                  <a:srgbClr val="002060"/>
                </a:solidFill>
                <a:latin typeface="Tahoma" pitchFamily="34" charset="0"/>
              </a:rPr>
              <a:t>Vindas</a:t>
            </a:r>
            <a:r>
              <a:rPr lang="en-US" sz="4800" b="1" i="1" dirty="0">
                <a:solidFill>
                  <a:srgbClr val="002060"/>
                </a:solidFill>
                <a:latin typeface="Tahoma" pitchFamily="34" charset="0"/>
              </a:rPr>
              <a:t/>
            </a:r>
            <a:br>
              <a:rPr lang="en-US" sz="4800" b="1" i="1" dirty="0">
                <a:solidFill>
                  <a:srgbClr val="002060"/>
                </a:solidFill>
                <a:latin typeface="Tahoma" pitchFamily="34" charset="0"/>
              </a:rPr>
            </a:br>
            <a:r>
              <a:rPr lang="en-US" sz="4800" b="1" i="1" dirty="0" err="1">
                <a:solidFill>
                  <a:srgbClr val="002060"/>
                </a:solidFill>
                <a:latin typeface="Tahoma" pitchFamily="34" charset="0"/>
              </a:rPr>
              <a:t>Apresentação</a:t>
            </a:r>
            <a:endParaRPr lang="en-US" sz="4800" b="1" i="1" dirty="0">
              <a:solidFill>
                <a:srgbClr val="00206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4" grpId="1"/>
      <p:bldP spid="44034" grpId="2"/>
      <p:bldP spid="44034" grpId="3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337625" y="2613856"/>
            <a:ext cx="880637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BR" sz="8000" b="1" dirty="0" smtClean="0">
                <a:solidFill>
                  <a:srgbClr val="002060"/>
                </a:solidFill>
              </a:rPr>
              <a:t>CONFIGURADOR</a:t>
            </a:r>
          </a:p>
          <a:p>
            <a:pPr algn="r"/>
            <a:endParaRPr lang="en-US" sz="28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593850" y="2603500"/>
            <a:ext cx="7153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en-US" sz="7000" b="1" i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Conte</a:t>
            </a:r>
            <a:r>
              <a:rPr lang="pt-BR" sz="7000" b="1" i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údo </a:t>
            </a:r>
            <a:br>
              <a:rPr lang="pt-BR" sz="7000" b="1" i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</a:br>
            <a:r>
              <a:rPr lang="pt-BR" sz="7000" b="1" i="1" dirty="0" smtClean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Programático</a:t>
            </a:r>
            <a:endParaRPr lang="en-US" sz="7000" b="1" i="1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2" grpId="1"/>
      <p:bldP spid="10242" grpId="2"/>
      <p:bldP spid="10242" grpId="3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8240" y="81888"/>
            <a:ext cx="6059607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15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spc="15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Conteúdo Programático</a:t>
            </a:r>
            <a:endParaRPr lang="pt-BR" sz="3000" b="1" i="1" spc="15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387073" name="Rectangle 1"/>
          <p:cNvSpPr>
            <a:spLocks noChangeArrowheads="1"/>
          </p:cNvSpPr>
          <p:nvPr/>
        </p:nvSpPr>
        <p:spPr bwMode="auto">
          <a:xfrm>
            <a:off x="423094" y="1358068"/>
            <a:ext cx="8720906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ESTRUTURA DE DIRETÓRIOS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FAMÍLIAS DE ARQUIVOS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EMPRESAS E FILIAIS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CRIAÇÃO DE EMPRESAS</a:t>
            </a:r>
          </a:p>
          <a:p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AUTORIZAÇÃO DE EMPRESAS</a:t>
            </a:r>
          </a:p>
          <a:p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AUTORIZAÇÃO DE EMERGÊNCIA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ARQUIVOS, TABELAS E CAMPOS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8240" y="81888"/>
            <a:ext cx="6059607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15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spc="15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Conteúdo Programático</a:t>
            </a:r>
            <a:endParaRPr lang="pt-BR" sz="3000" b="1" i="1" spc="15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387073" name="Rectangle 1"/>
          <p:cNvSpPr>
            <a:spLocks noChangeArrowheads="1"/>
          </p:cNvSpPr>
          <p:nvPr/>
        </p:nvSpPr>
        <p:spPr bwMode="auto">
          <a:xfrm>
            <a:off x="423094" y="1327295"/>
            <a:ext cx="8720906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ARQUIVO DE PERGUNTAS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MAPEAMENTO DE ARQUIVOS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CRIAÇÃO DE TABELAS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DICIONÁRIO DE DADOS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CONSULTAS-PADRÃO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MENUS E SENHAS</a:t>
            </a:r>
          </a:p>
          <a:p>
            <a:pPr>
              <a:buFont typeface="Arial" pitchFamily="34" charset="0"/>
              <a:buChar char="►"/>
            </a:pPr>
            <a:endParaRPr lang="pt-BR" sz="2000" dirty="0" smtClean="0">
              <a:latin typeface="Arial" pitchFamily="34" charset="0"/>
              <a:ea typeface="Calibri" pitchFamily="34" charset="0"/>
              <a:cs typeface="Calibri" pitchFamily="34" charset="0"/>
            </a:endParaRPr>
          </a:p>
          <a:p>
            <a:pPr>
              <a:buFont typeface="Arial" pitchFamily="34" charset="0"/>
              <a:buChar char="►"/>
            </a:pPr>
            <a:r>
              <a:rPr lang="pt-BR" sz="2000" dirty="0" smtClean="0">
                <a:latin typeface="Arial" pitchFamily="34" charset="0"/>
                <a:ea typeface="Calibri" pitchFamily="34" charset="0"/>
                <a:cs typeface="Calibri" pitchFamily="34" charset="0"/>
              </a:rPr>
              <a:t>REPOSITÓRIO DE IMAGENS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3319992" y="2769368"/>
            <a:ext cx="5607238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Estrutura dos Diretórios</a:t>
            </a:r>
            <a:endParaRPr lang="pt-BR" sz="4800" b="1" i="1" dirty="0">
              <a:solidFill>
                <a:srgbClr val="00206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4" grpId="1"/>
      <p:bldP spid="44034" grpId="2"/>
      <p:bldP spid="44034" grpId="3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254269" y="-70340"/>
            <a:ext cx="4394982" cy="12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Estrutura dos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Diretórios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73401"/>
              </p:ext>
            </p:extLst>
          </p:nvPr>
        </p:nvGraphicFramePr>
        <p:xfrm>
          <a:off x="225088" y="1450352"/>
          <a:ext cx="8590671" cy="5379512"/>
        </p:xfrm>
        <a:graphic>
          <a:graphicData uri="http://schemas.openxmlformats.org/drawingml/2006/table">
            <a:tbl>
              <a:tblPr/>
              <a:tblGrid>
                <a:gridCol w="2861264"/>
                <a:gridCol w="5729407"/>
              </a:tblGrid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 smtClean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\PROTHEUS</a:t>
                      </a:r>
                      <a:endParaRPr lang="pt-B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Raiz do sistema.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\APO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Repositório de objetos (RPO).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\BIN\SMARTCLIENTE_ACTIVEX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Destinado aos arquivos para acesso via Web.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\BIN\SMARTCLIENT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Executáveis, bibliotecas e arquivos de configuração (.INI) do sistema.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\BIN\SERVER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Executáveis, bibliotecas e arquivos de configuração (.INI) do sistema.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\BIN\APPSERVER\ACE_2.50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Arquivos de configuração e bibliotecas para acesso aos arquivos SX's.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\BIN\APPSERVER\ACE_6.11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Arquivos de configuração e bibliotecas para acesso aos arquivos SX's.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\BIN\APPSERVER\ACE_6.20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Arquivos de configuração e bibliotecas para acesso aos arquivos SX's.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\BIN\APPSERVER\ACE_7.00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Arquivos de configuração e bibliotecas para acesso aos arquivos </a:t>
                      </a:r>
                      <a:r>
                        <a:rPr lang="pt-BR" sz="1200" dirty="0" err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SX's</a:t>
                      </a:r>
                      <a:r>
                        <a:rPr lang="pt-BR" sz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</a:t>
                      </a:r>
                      <a:endParaRPr lang="pt-BR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\BIN\TOOLS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Onde são encontrados as ferramentas para manutenção do sistema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\CPROVA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Destinado para a gravação dos lançamentos analíticos do módulo Contábil.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\CRYSTAL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Contém arquivos de bibliotecas e relatórios modelos do Crystal Report.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\DATA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Contém o Banco de dados do Protheus (Codebase ou ADS).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\HANDHELD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Arquivos de biblioteca para integração com Palm-OS e Pocket PC.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\INCLUDE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Contém as Bibliotecas (.CH) necessárias a execução e compilação do AP7.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\MY PROJECTS\SAMPLES\SOURCE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Fontes para exemplos de funções ADVPL.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\SAMPLES\DOCUMENTS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Arquivos modelos para integração com o pacote Microsoft Office.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1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\SYSTEMLOAD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Arquivos de carga do Dic. de dados e Helps do Protheus, usado somente na inst.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0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\SPOOL</a:t>
                      </a:r>
                      <a:endParaRPr lang="pt-B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Destinado para a gravação de relatórios gerados em disco.</a:t>
                      </a:r>
                      <a:endParaRPr lang="pt-BR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21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\SEMAFORO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Arquivos complementares para as </a:t>
                      </a:r>
                      <a:r>
                        <a:rPr lang="pt-BR" sz="1200" dirty="0" err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sequências</a:t>
                      </a:r>
                      <a:r>
                        <a:rPr lang="pt-BR" sz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 de documentos.</a:t>
                      </a:r>
                      <a:endParaRPr lang="pt-BR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2719" marR="4271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1"/>
          <p:cNvSpPr>
            <a:spLocks noChangeArrowheads="1"/>
          </p:cNvSpPr>
          <p:nvPr/>
        </p:nvSpPr>
        <p:spPr bwMode="auto">
          <a:xfrm>
            <a:off x="422032" y="2399625"/>
            <a:ext cx="8215532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r>
              <a:rPr kumimoji="0" lang="pt-BR" sz="2000" b="1" i="0" u="sng" strike="noStrike" cap="none" normalizeH="0" baseline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Rootpath</a:t>
            </a: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: Diretório onde são armazenados os arquivos do sistema, reconhecida como raiz do ambiente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r>
              <a:rPr kumimoji="0" lang="pt-BR" sz="2000" b="1" i="0" u="sng" strike="noStrike" cap="none" normalizeH="0" baseline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SourcePath</a:t>
            </a: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: </a:t>
            </a: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é o diretório onde estão armazenados os repositórios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endParaRPr kumimoji="0" lang="pt-BR" sz="2000" b="0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r>
              <a:rPr kumimoji="0" lang="pt-BR" sz="2000" b="1" i="0" u="sng" strike="noStrike" cap="none" normalizeH="0" baseline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StartPath</a:t>
            </a:r>
            <a:r>
              <a:rPr kumimoji="0" lang="pt-BR" sz="2000" b="1" i="0" u="sng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:</a:t>
            </a:r>
            <a:r>
              <a:rPr kumimoji="0" lang="pt-BR" sz="20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Diretório dentro do </a:t>
            </a:r>
            <a:r>
              <a:rPr kumimoji="0" lang="pt-B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rootpath</a:t>
            </a: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e que tem como função armazenamento de arquivos de inicialização, banco de dados(.</a:t>
            </a:r>
            <a:r>
              <a:rPr kumimoji="0" lang="pt-BR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dbf</a:t>
            </a: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) e menus, senhas de usuários, cadastro de empresas, etc.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254269" y="-70340"/>
            <a:ext cx="4394982" cy="12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Estrutura dos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Diretórios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Famílias de Arquivos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4" grpId="1"/>
      <p:bldP spid="44034" grpId="2"/>
      <p:bldP spid="44034" grpId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96952" y="84408"/>
            <a:ext cx="5444197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Famílias de Arquivos 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2391508" y="1547442"/>
          <a:ext cx="4357565" cy="5099617"/>
        </p:xfrm>
        <a:graphic>
          <a:graphicData uri="http://schemas.openxmlformats.org/drawingml/2006/table">
            <a:tbl>
              <a:tblPr/>
              <a:tblGrid>
                <a:gridCol w="1005592"/>
                <a:gridCol w="3351973"/>
              </a:tblGrid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SX1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Perguntas e Respostas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SX2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Mapeamento de Arquivos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SX3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Dicionário de Dados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SX4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Agenda do Schedule de Processos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SX5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Tabelas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SX6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Parâmetros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SX7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Gatilhos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SX9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Relacionamento entre arquivos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SXA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Pastas Cadastrais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SXB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Consulta Padrão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SXC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Controle de Usuários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SXD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Controle do Schedule de Processos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1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SXE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Sequência de Documentos (+1)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SXF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Sequência de Documentos (Próximo)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SXG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Tamanho padrão para campos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2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SXK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Controle de Perguntas (SX1) Usuários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1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SXO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1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Controle de Log's por Tabela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1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SXP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1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Controle de Log's por Tabela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43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SIX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5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Índices dos Arquivos (1)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706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400" b="1" spc="-2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SINDEX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400" spc="-5" dirty="0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Índices dos Arquivos (2)</a:t>
                      </a:r>
                      <a:endParaRPr lang="pt-B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196952" y="84408"/>
            <a:ext cx="5444197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Famílias de Arquivos 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1406769" y="1814725"/>
          <a:ext cx="5781821" cy="4473717"/>
        </p:xfrm>
        <a:graphic>
          <a:graphicData uri="http://schemas.openxmlformats.org/drawingml/2006/table">
            <a:tbl>
              <a:tblPr/>
              <a:tblGrid>
                <a:gridCol w="1763067"/>
                <a:gridCol w="4018754"/>
              </a:tblGrid>
              <a:tr h="464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SIGAMAT.CFG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Número de Estações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SIGAADV.HLP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Help de Campos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SIGAADV.HPR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Help de Programas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SIGAMAT.EMP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Empresas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SIGAMAT.ALC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Alçadas e Solicitações de Compras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SIGAFIS.MAG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Livros Fiscais Magnéticos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SIGAADV.PSS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Senhas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SIGAMAT.DEP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Depuração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4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SIGAMAT.ACS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Acessos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>
                          <a:solidFill>
                            <a:srgbClr val="000000"/>
                          </a:solidFill>
                          <a:latin typeface="Arial"/>
                          <a:ea typeface="Times New Roman"/>
                          <a:cs typeface="Times New Roman"/>
                        </a:rPr>
                        <a:t>SIGAMAT.IND</a:t>
                      </a:r>
                      <a:endParaRPr lang="pt-BR" sz="1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8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Índice do SIGAMAT.EMP</a:t>
                      </a:r>
                      <a:endParaRPr lang="pt-BR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/>
          <p:cNvGraphicFramePr>
            <a:graphicFrameLocks noGrp="1"/>
          </p:cNvGraphicFramePr>
          <p:nvPr/>
        </p:nvGraphicFramePr>
        <p:xfrm>
          <a:off x="2574389" y="1716263"/>
          <a:ext cx="4135902" cy="4459250"/>
        </p:xfrm>
        <a:graphic>
          <a:graphicData uri="http://schemas.openxmlformats.org/drawingml/2006/table">
            <a:tbl>
              <a:tblPr/>
              <a:tblGrid>
                <a:gridCol w="1024865"/>
                <a:gridCol w="3111037"/>
              </a:tblGrid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.#DB</a:t>
                      </a:r>
                      <a:endParaRPr lang="pt-B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Backup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.REL</a:t>
                      </a:r>
                      <a:endParaRPr lang="pt-B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Relatórios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.DUP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Script de Duplicata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.PDV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Planilha de Custos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.NF2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Script da Nota Fiscal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.PLN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Planilhas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.RPG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Script do RPG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.DRV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Drivers de Impressoras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.REM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Envio de Transmissão Bancária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.RET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Recebimento de Transmissão Bancária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.FAT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Script de Fatura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.IMP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Configurações de Importação de Dados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41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.LOG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Arquivo TTS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652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200" b="1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.PRW e .PRX</a:t>
                      </a:r>
                      <a:endParaRPr lang="pt-BR" sz="2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200" dirty="0">
                          <a:solidFill>
                            <a:srgbClr val="000000"/>
                          </a:solidFill>
                          <a:latin typeface="Verdana"/>
                          <a:ea typeface="Times New Roman"/>
                          <a:cs typeface="Times New Roman"/>
                        </a:rPr>
                        <a:t>Programas em ADVPL e RDMAKE</a:t>
                      </a:r>
                      <a:endParaRPr lang="pt-BR" sz="2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44450" marR="444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196952" y="84408"/>
            <a:ext cx="5444197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Famílias de Arquivos 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Empresas e Filiais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8" grpId="2"/>
      <p:bldP spid="8" grpId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478302" y="1859340"/>
            <a:ext cx="845468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smtClean="0"/>
              <a:t>Esta distinção entre empresas e filiais é controlada pelo sistema através da criação de empresas, onde se definem quantas e quais são as empresas matrizes e filiais. </a:t>
            </a:r>
          </a:p>
          <a:p>
            <a:endParaRPr lang="pt-BR" sz="2000" dirty="0" smtClean="0"/>
          </a:p>
          <a:p>
            <a:r>
              <a:rPr lang="pt-BR" sz="2000" dirty="0" smtClean="0"/>
              <a:t>Todos os arquivos do Protheus registram os dados da seguinte forma:</a:t>
            </a:r>
          </a:p>
          <a:p>
            <a:endParaRPr lang="pt-BR" sz="2000" dirty="0" smtClean="0"/>
          </a:p>
          <a:p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	XXX_FILIAL onde: XXX = sigla do arquivo </a:t>
            </a:r>
          </a:p>
          <a:p>
            <a:endParaRPr lang="pt-BR" sz="2000" dirty="0" smtClean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	</a:t>
            </a:r>
            <a:r>
              <a:rPr lang="pt-BR" sz="2000" u="sng" dirty="0" smtClean="0">
                <a:solidFill>
                  <a:srgbClr val="FF0000"/>
                </a:solidFill>
              </a:rPr>
              <a:t>S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B1_FILIAL </a:t>
            </a:r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onde: </a:t>
            </a:r>
          </a:p>
          <a:p>
            <a:endParaRPr lang="pt-BR" sz="2000" dirty="0" smtClean="0">
              <a:solidFill>
                <a:schemeClr val="tx2">
                  <a:lumMod val="75000"/>
                </a:schemeClr>
              </a:solidFill>
            </a:endParaRPr>
          </a:p>
          <a:p>
            <a:pPr lvl="3"/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SB1 = Cadastro de Produtos e</a:t>
            </a:r>
          </a:p>
          <a:p>
            <a:pPr lvl="3"/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</a:rPr>
              <a:t>FILIAL = número da filial onde foi gravado o dado.	</a:t>
            </a:r>
            <a:endParaRPr lang="pt-BR" sz="20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Autorização de Empresas 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5" grpId="2"/>
      <p:bldP spid="5" grpId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23069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Autorização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Empresas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770143" y="1357313"/>
            <a:ext cx="7670482" cy="529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None/>
            </a:pPr>
            <a:endParaRPr lang="pt-BR" sz="1000" dirty="0">
              <a:solidFill>
                <a:srgbClr val="000066"/>
              </a:solidFill>
            </a:endParaRPr>
          </a:p>
          <a:p>
            <a:pPr lvl="0"/>
            <a:endParaRPr lang="pt-BR" dirty="0" smtClean="0"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lvl="0"/>
            <a:endParaRPr lang="pt-BR" dirty="0" smtClean="0"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lvl="0"/>
            <a:endParaRPr lang="pt-BR" dirty="0" smtClean="0"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lvl="0" algn="just"/>
            <a:r>
              <a:rPr lang="pt-BR" sz="2000" dirty="0" smtClean="0">
                <a:latin typeface="Verdana" pitchFamily="34" charset="0"/>
                <a:ea typeface="Times New Roman" pitchFamily="18" charset="0"/>
                <a:cs typeface="Arial" pitchFamily="34" charset="0"/>
              </a:rPr>
              <a:t>Após criar uma empresa, o usuário deve entrar em contato com a Microsiga para obter o código de acesso à empresa e aos ambientes adquiridos. </a:t>
            </a:r>
          </a:p>
          <a:p>
            <a:pPr lvl="0" algn="just"/>
            <a:endParaRPr lang="pt-BR" sz="2000" dirty="0" smtClean="0"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lvl="0" algn="just"/>
            <a:endParaRPr lang="pt-BR" sz="2000" dirty="0" smtClean="0"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lvl="2" algn="just"/>
            <a:r>
              <a:rPr lang="pt-BR" sz="2000" dirty="0" smtClean="0">
                <a:solidFill>
                  <a:schemeClr val="tx2">
                    <a:lumMod val="75000"/>
                  </a:schemeClr>
                </a:solidFill>
                <a:latin typeface="Verdana" pitchFamily="34" charset="0"/>
                <a:ea typeface="Times New Roman" pitchFamily="18" charset="0"/>
                <a:cs typeface="Arial" pitchFamily="34" charset="0"/>
              </a:rPr>
              <a:t>De posse destes códigos, deve utilizar a rotina de Autorização de  empresas para informá-los.</a:t>
            </a:r>
            <a:endParaRPr lang="pt-BR" sz="2000" dirty="0" smtClean="0">
              <a:solidFill>
                <a:schemeClr val="tx2">
                  <a:lumMod val="75000"/>
                </a:schemeClr>
              </a:solidFill>
              <a:latin typeface="Arial" pitchFamily="34" charset="0"/>
            </a:endParaRPr>
          </a:p>
          <a:p>
            <a:pPr algn="just"/>
            <a:endParaRPr lang="pt-BR" sz="2000" dirty="0"/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423069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Autorização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Empresas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5939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24817" y="1464140"/>
            <a:ext cx="6981825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423069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Autorização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Empresas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5734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6344" y="1436004"/>
            <a:ext cx="6981825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2952" y="1506342"/>
            <a:ext cx="6981825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423069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Autorização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Empresas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Arquivos de Perguntas 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5" grpId="2"/>
      <p:bldP spid="5" grpId="3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23069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Arquivos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Perguntas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5120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8550" y="1799771"/>
            <a:ext cx="7816325" cy="44123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423069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Arquivos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Perguntas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40961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12691" y="1576681"/>
            <a:ext cx="6743700" cy="488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Mapeamento de Arquivos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0" grpId="2"/>
      <p:bldP spid="10" grpId="3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423069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Mapeamento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Arquivos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76238" y="1357313"/>
            <a:ext cx="8767762" cy="529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None/>
            </a:pPr>
            <a:endParaRPr lang="pt-BR" sz="1800" dirty="0"/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464235" y="1467510"/>
            <a:ext cx="8412480" cy="1346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pt-BR" dirty="0" smtClean="0"/>
              <a:t>A rotina Arquivos possui a função de facilitar ao usuário determinar a localização, nome, descrição e modo de acesso dos arquivos. </a:t>
            </a:r>
          </a:p>
          <a:p>
            <a:endParaRPr lang="pt-BR" dirty="0" smtClean="0"/>
          </a:p>
          <a:p>
            <a:r>
              <a:rPr lang="pt-BR" dirty="0" smtClean="0"/>
              <a:t>Estes são os dados que constam no arquivo "SX2".</a:t>
            </a:r>
          </a:p>
          <a:p>
            <a:endParaRPr lang="pt-BR" dirty="0" smtClean="0"/>
          </a:p>
          <a:p>
            <a:r>
              <a:rPr lang="pt-BR" dirty="0" smtClean="0"/>
              <a:t>As nomenclaturas dos arquivos seguem um dos critérios abaixo:</a:t>
            </a:r>
          </a:p>
          <a:p>
            <a:pPr lvl="1"/>
            <a:r>
              <a:rPr lang="pt-BR" dirty="0" smtClean="0"/>
              <a:t>• O nome do arquivo é iniciado com a letra S </a:t>
            </a:r>
          </a:p>
          <a:p>
            <a:pPr lvl="1"/>
            <a:r>
              <a:rPr lang="pt-BR" dirty="0" smtClean="0"/>
              <a:t>• 1ª posição    S de SIGA </a:t>
            </a:r>
          </a:p>
          <a:p>
            <a:pPr lvl="1"/>
            <a:r>
              <a:rPr lang="pt-BR" dirty="0" smtClean="0"/>
              <a:t>• 2ª posição    A </a:t>
            </a:r>
            <a:r>
              <a:rPr lang="pt-BR" dirty="0" err="1" smtClean="0"/>
              <a:t>a</a:t>
            </a:r>
            <a:r>
              <a:rPr lang="pt-BR" dirty="0" smtClean="0"/>
              <a:t> Z define a família do arquivo. </a:t>
            </a:r>
          </a:p>
          <a:p>
            <a:pPr lvl="1"/>
            <a:r>
              <a:rPr lang="pt-BR" dirty="0" smtClean="0"/>
              <a:t>• 3ª posição    1 a Z seqüência dentro da família. </a:t>
            </a:r>
          </a:p>
          <a:p>
            <a:pPr lvl="1"/>
            <a:r>
              <a:rPr lang="pt-BR" dirty="0" smtClean="0"/>
              <a:t>• O nome do arquivo é iniciado com a letra da família </a:t>
            </a:r>
          </a:p>
          <a:p>
            <a:pPr lvl="1"/>
            <a:r>
              <a:rPr lang="pt-BR" dirty="0" smtClean="0"/>
              <a:t>• 1ª posição    A </a:t>
            </a:r>
            <a:r>
              <a:rPr lang="pt-BR" dirty="0" err="1" smtClean="0"/>
              <a:t>a</a:t>
            </a:r>
            <a:r>
              <a:rPr lang="pt-BR" dirty="0" smtClean="0"/>
              <a:t> Z define a família do arquivo. </a:t>
            </a:r>
          </a:p>
          <a:p>
            <a:pPr lvl="1"/>
            <a:r>
              <a:rPr lang="pt-BR" dirty="0" smtClean="0"/>
              <a:t>• 2ª posição    1 a Z seqüência dentro da família. </a:t>
            </a:r>
          </a:p>
          <a:p>
            <a:pPr lvl="1"/>
            <a:r>
              <a:rPr lang="pt-BR" dirty="0" smtClean="0"/>
              <a:t>• 3ª posição    1 a Z seqüência dentro da família. </a:t>
            </a:r>
          </a:p>
          <a:p>
            <a:pPr lvl="1"/>
            <a:r>
              <a:rPr lang="pt-BR" dirty="0" smtClean="0"/>
              <a:t>• As famílias estão divididas da seguinte maneira: </a:t>
            </a:r>
          </a:p>
          <a:p>
            <a:pPr lvl="1"/>
            <a:r>
              <a:rPr lang="pt-BR" dirty="0" smtClean="0"/>
              <a:t>• Famílias Reservadas Microsiga            SA e </a:t>
            </a:r>
            <a:r>
              <a:rPr lang="pt-BR" dirty="0" err="1" smtClean="0"/>
              <a:t>Axx</a:t>
            </a:r>
            <a:r>
              <a:rPr lang="pt-BR" dirty="0" smtClean="0"/>
              <a:t> a SY e </a:t>
            </a:r>
            <a:r>
              <a:rPr lang="pt-BR" dirty="0" err="1" smtClean="0"/>
              <a:t>Yxx</a:t>
            </a:r>
            <a:r>
              <a:rPr lang="pt-BR" dirty="0" smtClean="0"/>
              <a:t> </a:t>
            </a:r>
          </a:p>
          <a:p>
            <a:pPr lvl="1"/>
            <a:r>
              <a:rPr lang="pt-BR" dirty="0" smtClean="0"/>
              <a:t>• Família Reservada a Customizações    SZ e </a:t>
            </a:r>
            <a:r>
              <a:rPr lang="pt-BR" dirty="0" err="1" smtClean="0"/>
              <a:t>Zxx</a:t>
            </a:r>
            <a:r>
              <a:rPr lang="pt-BR" dirty="0" smtClean="0"/>
              <a:t> </a:t>
            </a:r>
          </a:p>
          <a:p>
            <a:pPr lvl="1"/>
            <a:endParaRPr lang="pt-BR" dirty="0"/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Criação de Tabelas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0" grpId="2"/>
      <p:bldP spid="10" grpId="3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76238" y="1357313"/>
            <a:ext cx="8767762" cy="529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None/>
            </a:pPr>
            <a:endParaRPr lang="pt-BR" sz="1800" dirty="0"/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66811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Criação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Tabelas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9" name="Imagem 8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40798" y="1553155"/>
            <a:ext cx="7304396" cy="4355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366811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Criação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Tabelas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76238" y="1357313"/>
            <a:ext cx="8767762" cy="529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pt-BR" sz="3000" dirty="0" smtClean="0">
                <a:solidFill>
                  <a:srgbClr val="000066"/>
                </a:solidFill>
              </a:rPr>
              <a:t>Manipulação da Tabela Genérica </a:t>
            </a:r>
          </a:p>
          <a:p>
            <a:pPr marL="609600" indent="-6096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None/>
            </a:pPr>
            <a:endParaRPr lang="pt-BR" sz="1000" dirty="0">
              <a:solidFill>
                <a:srgbClr val="000066"/>
              </a:solidFill>
            </a:endParaRPr>
          </a:p>
          <a:p>
            <a:endParaRPr lang="pt-BR" b="1" dirty="0" smtClean="0"/>
          </a:p>
          <a:p>
            <a:r>
              <a:rPr lang="pt-BR" b="1" dirty="0" smtClean="0"/>
              <a:t>TABELA</a:t>
            </a:r>
            <a:r>
              <a:rPr lang="pt-BR" dirty="0" smtClean="0"/>
              <a:t> - Retorna o conteúdo de uma tabela cadastrada no SX5.</a:t>
            </a:r>
          </a:p>
          <a:p>
            <a:r>
              <a:rPr lang="pt-BR" dirty="0" smtClean="0"/>
              <a:t>Sintaxe</a:t>
            </a:r>
          </a:p>
          <a:p>
            <a:r>
              <a:rPr lang="pt-BR" cap="all" dirty="0" smtClean="0"/>
              <a:t>tabela(</a:t>
            </a:r>
            <a:r>
              <a:rPr lang="pt-BR" dirty="0" smtClean="0"/>
              <a:t> </a:t>
            </a:r>
            <a:r>
              <a:rPr lang="pt-BR" i="1" dirty="0" err="1" smtClean="0"/>
              <a:t>cCodTab</a:t>
            </a:r>
            <a:r>
              <a:rPr lang="pt-BR" i="1" dirty="0" smtClean="0"/>
              <a:t>, </a:t>
            </a:r>
            <a:r>
              <a:rPr lang="pt-BR" i="1" dirty="0" err="1" smtClean="0"/>
              <a:t>cChave</a:t>
            </a:r>
            <a:r>
              <a:rPr lang="pt-BR" i="1" dirty="0" smtClean="0"/>
              <a:t>, [</a:t>
            </a:r>
            <a:r>
              <a:rPr lang="pt-BR" i="1" dirty="0" err="1" smtClean="0"/>
              <a:t>lHelp</a:t>
            </a:r>
            <a:r>
              <a:rPr lang="pt-BR" i="1" dirty="0" smtClean="0"/>
              <a:t>]</a:t>
            </a:r>
            <a:r>
              <a:rPr lang="pt-BR" dirty="0" smtClean="0"/>
              <a:t> ) </a:t>
            </a:r>
          </a:p>
          <a:p>
            <a:endParaRPr lang="pt-BR" dirty="0" smtClean="0"/>
          </a:p>
        </p:txBody>
      </p:sp>
      <p:graphicFrame>
        <p:nvGraphicFramePr>
          <p:cNvPr id="12" name="Tabela 11"/>
          <p:cNvGraphicFramePr>
            <a:graphicFrameLocks noGrp="1"/>
          </p:cNvGraphicFramePr>
          <p:nvPr/>
        </p:nvGraphicFramePr>
        <p:xfrm>
          <a:off x="351694" y="3502860"/>
          <a:ext cx="8229601" cy="1884666"/>
        </p:xfrm>
        <a:graphic>
          <a:graphicData uri="http://schemas.openxmlformats.org/drawingml/2006/table">
            <a:tbl>
              <a:tblPr/>
              <a:tblGrid>
                <a:gridCol w="1808667"/>
                <a:gridCol w="1568171"/>
                <a:gridCol w="1858085"/>
                <a:gridCol w="2994678"/>
              </a:tblGrid>
              <a:tr h="306540"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i="0" u="none" strike="noStrike" dirty="0">
                          <a:solidFill>
                            <a:srgbClr val="3F3F3F"/>
                          </a:solidFill>
                          <a:latin typeface="Calibri"/>
                        </a:rPr>
                        <a:t>Argumento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i="0" u="none" strike="noStrike">
                          <a:solidFill>
                            <a:srgbClr val="3F3F3F"/>
                          </a:solidFill>
                          <a:latin typeface="Calibri"/>
                        </a:rPr>
                        <a:t>Obrig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i="0" u="none" strike="noStrike">
                          <a:solidFill>
                            <a:srgbClr val="3F3F3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2000" b="1" i="0" u="none" strike="noStrike" dirty="0">
                          <a:solidFill>
                            <a:srgbClr val="3F3F3F"/>
                          </a:solidFill>
                          <a:latin typeface="Calibri"/>
                        </a:rPr>
                        <a:t>Descrição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0654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1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cCodTab</a:t>
                      </a:r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Sim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C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0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Codigo</a:t>
                      </a:r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 da Tabela a pesquisar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540">
                <a:tc>
                  <a:txBody>
                    <a:bodyPr/>
                    <a:lstStyle/>
                    <a:p>
                      <a:pPr algn="l" fontAlgn="b"/>
                      <a:r>
                        <a:rPr lang="pt-BR" sz="1400" b="0" i="1" u="none" strike="noStrike" dirty="0" err="1">
                          <a:solidFill>
                            <a:srgbClr val="000000"/>
                          </a:solidFill>
                          <a:latin typeface="Verdana"/>
                        </a:rPr>
                        <a:t>cChave</a:t>
                      </a:r>
                      <a:endParaRPr lang="pt-BR" sz="1400" b="0" i="1" u="none" strike="noStrike" dirty="0">
                        <a:solidFill>
                          <a:srgbClr val="000000"/>
                        </a:solidFill>
                        <a:latin typeface="Verdana"/>
                      </a:endParaRP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Sim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C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Chave para pesquisa da tabela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6540">
                <a:tc rowSpan="2">
                  <a:txBody>
                    <a:bodyPr/>
                    <a:lstStyle/>
                    <a:p>
                      <a:pPr algn="l" fontAlgn="ctr"/>
                      <a:r>
                        <a:rPr lang="pt-BR" sz="1400" b="0" i="1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lHelp</a:t>
                      </a:r>
                    </a:p>
                  </a:txBody>
                  <a:tcPr marL="7327" marR="7327" marT="73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Não</a:t>
                      </a:r>
                    </a:p>
                  </a:txBody>
                  <a:tcPr marL="7327" marR="7327" marT="73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L</a:t>
                      </a:r>
                    </a:p>
                  </a:txBody>
                  <a:tcPr marL="7327" marR="7327" marT="732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latin typeface="Verdana"/>
                        </a:rPr>
                        <a:t>Define se mostra o help. Default .T.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41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b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latin typeface="Verdana"/>
                        </a:rPr>
                        <a:t>.T. – Mostra o help. .F. – Não mostra o help</a:t>
                      </a:r>
                    </a:p>
                  </a:txBody>
                  <a:tcPr marL="7327" marR="7327" marT="732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1790260" y="2491570"/>
            <a:ext cx="7153275" cy="1398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Dicionário de </a:t>
            </a:r>
          </a:p>
          <a:p>
            <a:pPr algn="r"/>
            <a:r>
              <a:rPr lang="pt-BR" sz="4800" b="1" i="1" dirty="0" err="1" smtClean="0">
                <a:solidFill>
                  <a:srgbClr val="002060"/>
                </a:solidFill>
                <a:latin typeface="Tahoma" pitchFamily="34" charset="0"/>
              </a:rPr>
              <a:t>Dad</a:t>
            </a:r>
            <a:r>
              <a:rPr lang="en-US" sz="4800" b="1" i="1" dirty="0" err="1" smtClean="0">
                <a:solidFill>
                  <a:srgbClr val="002060"/>
                </a:solidFill>
                <a:latin typeface="Tahoma" pitchFamily="34" charset="0"/>
              </a:rPr>
              <a:t>os</a:t>
            </a:r>
            <a:endParaRPr lang="en-US" sz="4800" b="1" i="1" dirty="0">
              <a:solidFill>
                <a:srgbClr val="00206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/>
      <p:bldP spid="10242" grpId="1"/>
      <p:bldP spid="10242" grpId="2"/>
      <p:bldP spid="10242" grpId="3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366811" y="337632"/>
            <a:ext cx="4394982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Dicionário de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Dados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189914" y="1586525"/>
            <a:ext cx="8419514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/>
              <a:t>"Dicionário de Dados" contém todos os arquivos do Sistema. </a:t>
            </a:r>
          </a:p>
          <a:p>
            <a:endParaRPr lang="pt-BR" dirty="0" smtClean="0"/>
          </a:p>
          <a:p>
            <a:r>
              <a:rPr lang="pt-BR" dirty="0" smtClean="0"/>
              <a:t>As únicas restrições encontradas os campos-chave e campos obrigatórios do sistema, os quais não podem ser alterados, tão pouco excluídos.</a:t>
            </a:r>
          </a:p>
          <a:p>
            <a:r>
              <a:rPr lang="pt-BR" dirty="0" smtClean="0"/>
              <a:t> </a:t>
            </a:r>
          </a:p>
          <a:p>
            <a:r>
              <a:rPr lang="pt-BR" dirty="0" smtClean="0"/>
              <a:t>Nesta opção estão disponíveis os seguintes recursos:</a:t>
            </a:r>
          </a:p>
          <a:p>
            <a:pPr lvl="2"/>
            <a:r>
              <a:rPr lang="pt-BR" dirty="0" smtClean="0"/>
              <a:t> • Arquivos </a:t>
            </a:r>
          </a:p>
          <a:p>
            <a:pPr lvl="2"/>
            <a:r>
              <a:rPr lang="pt-BR" dirty="0" smtClean="0"/>
              <a:t> • Dicionário de Dados </a:t>
            </a:r>
          </a:p>
          <a:p>
            <a:pPr lvl="2"/>
            <a:r>
              <a:rPr lang="pt-BR" dirty="0" smtClean="0"/>
              <a:t>       • Grupo de Campos </a:t>
            </a:r>
          </a:p>
          <a:p>
            <a:pPr lvl="2"/>
            <a:r>
              <a:rPr lang="pt-BR" dirty="0" smtClean="0"/>
              <a:t> • Base de Dados </a:t>
            </a:r>
          </a:p>
          <a:p>
            <a:pPr lvl="3"/>
            <a:r>
              <a:rPr lang="pt-BR" dirty="0" smtClean="0"/>
              <a:t> • Tabelas Genéricas </a:t>
            </a:r>
          </a:p>
          <a:p>
            <a:pPr lvl="3"/>
            <a:r>
              <a:rPr lang="pt-BR" dirty="0" smtClean="0"/>
              <a:t> • Parâmetros </a:t>
            </a:r>
          </a:p>
          <a:p>
            <a:pPr lvl="3"/>
            <a:r>
              <a:rPr lang="pt-BR" dirty="0" smtClean="0"/>
              <a:t> • Perguntas </a:t>
            </a:r>
          </a:p>
          <a:p>
            <a:pPr lvl="3"/>
            <a:r>
              <a:rPr lang="pt-BR" dirty="0" smtClean="0"/>
              <a:t> • Consultas Padrão </a:t>
            </a:r>
          </a:p>
          <a:p>
            <a:pPr lvl="3"/>
            <a:r>
              <a:rPr lang="pt-BR" dirty="0" smtClean="0"/>
              <a:t> • Gatilhos </a:t>
            </a:r>
          </a:p>
          <a:p>
            <a:pPr lvl="2"/>
            <a:r>
              <a:rPr lang="pt-BR" dirty="0" smtClean="0"/>
              <a:t>  </a:t>
            </a:r>
          </a:p>
          <a:p>
            <a:r>
              <a:rPr lang="pt-BR" dirty="0" smtClean="0"/>
              <a:t>As opções Tabelas Genéricas e Parâmetros estão disponíveis, também, no menu Ambiente + Cadastros, neste mesmo Ambiente Configurador.</a:t>
            </a:r>
          </a:p>
          <a:p>
            <a:endParaRPr lang="pt-BR" dirty="0"/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790260" y="2491570"/>
            <a:ext cx="7153275" cy="1398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Consultas-Padrão</a:t>
            </a:r>
            <a:endParaRPr lang="en-US" sz="4800" b="1" i="1" dirty="0">
              <a:solidFill>
                <a:srgbClr val="002060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9" grpId="2"/>
      <p:bldP spid="9" grpId="3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6" name="Rectangle 4"/>
          <p:cNvSpPr>
            <a:spLocks noChangeArrowheads="1"/>
          </p:cNvSpPr>
          <p:nvPr/>
        </p:nvSpPr>
        <p:spPr bwMode="auto">
          <a:xfrm>
            <a:off x="250825" y="1201738"/>
            <a:ext cx="8355013" cy="295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indent="177800">
              <a:tabLst>
                <a:tab pos="903288" algn="l"/>
                <a:tab pos="1163638" algn="l"/>
                <a:tab pos="1800225" algn="l"/>
                <a:tab pos="2152650" algn="l"/>
                <a:tab pos="2873375" algn="l"/>
                <a:tab pos="3230563" algn="l"/>
                <a:tab pos="4845050" algn="l"/>
                <a:tab pos="7172325" algn="l"/>
              </a:tabLst>
            </a:pPr>
            <a:endParaRPr lang="en-US" sz="2000"/>
          </a:p>
        </p:txBody>
      </p:sp>
      <p:sp>
        <p:nvSpPr>
          <p:cNvPr id="84997" name="Rectangle 5"/>
          <p:cNvSpPr>
            <a:spLocks noChangeArrowheads="1"/>
          </p:cNvSpPr>
          <p:nvPr/>
        </p:nvSpPr>
        <p:spPr bwMode="auto">
          <a:xfrm>
            <a:off x="337624" y="1503245"/>
            <a:ext cx="803265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just"/>
            <a:r>
              <a:rPr lang="pt-BR" dirty="0" smtClean="0"/>
              <a:t>As consultas padrão são as opções de pesquisa dos arquivos do sistema. Estas consultas são apresentadas, por exemplo, na pesquisa de um fornecedor para preencher o campo "Fornecedor" de determinada rotina.</a:t>
            </a:r>
          </a:p>
          <a:p>
            <a:pPr>
              <a:spcBef>
                <a:spcPct val="0"/>
              </a:spcBef>
            </a:pPr>
            <a:endParaRPr lang="pt-BR" b="0" dirty="0"/>
          </a:p>
        </p:txBody>
      </p:sp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Consulta-Padrão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9873" y="2552614"/>
            <a:ext cx="7427486" cy="4192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Consulta-Padrão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184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07661" y="1985817"/>
            <a:ext cx="57912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Consulta-Padrão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20128" y="1915478"/>
            <a:ext cx="57912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Consulta-Padrão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42952" y="1873274"/>
            <a:ext cx="57912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Consulta-Padrão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7588" y="1831072"/>
            <a:ext cx="57912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790260" y="2491570"/>
            <a:ext cx="7153275" cy="1398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Repositório de Imagens</a:t>
            </a:r>
            <a:endParaRPr lang="en-US" sz="4800" b="1" i="1" dirty="0">
              <a:solidFill>
                <a:srgbClr val="002060"/>
              </a:solidFill>
              <a:latin typeface="Tahom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7" grpId="2"/>
      <p:bldP spid="7" grpId="3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Repositório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Imagens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289" name="Rectangle 1"/>
          <p:cNvSpPr>
            <a:spLocks noChangeArrowheads="1"/>
          </p:cNvSpPr>
          <p:nvPr/>
        </p:nvSpPr>
        <p:spPr bwMode="auto">
          <a:xfrm>
            <a:off x="508001" y="1913293"/>
            <a:ext cx="80645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Alguns cadastros e rotinas do sistema permitem a associação de imagens, porém, para sua utilização é necessário cadastrá-las neste repositório que permite a manipulação de informações gráficas.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graphicFrame>
        <p:nvGraphicFramePr>
          <p:cNvPr id="8" name="Tabela 7"/>
          <p:cNvGraphicFramePr>
            <a:graphicFrameLocks noGrp="1"/>
          </p:cNvGraphicFramePr>
          <p:nvPr/>
        </p:nvGraphicFramePr>
        <p:xfrm>
          <a:off x="698500" y="3911600"/>
          <a:ext cx="7264400" cy="781050"/>
        </p:xfrm>
        <a:graphic>
          <a:graphicData uri="http://schemas.openxmlformats.org/drawingml/2006/table">
            <a:tbl>
              <a:tblPr/>
              <a:tblGrid>
                <a:gridCol w="2760057"/>
                <a:gridCol w="2760057"/>
                <a:gridCol w="1744286"/>
              </a:tblGrid>
              <a:tr h="390525">
                <a:tc>
                  <a:txBody>
                    <a:bodyPr/>
                    <a:lstStyle/>
                    <a:p>
                      <a:pPr marL="95250" marR="95250" algn="ctr"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pt-BR" sz="1800" b="1">
                          <a:solidFill>
                            <a:srgbClr val="4B4E79"/>
                          </a:solidFill>
                          <a:latin typeface="Verdana"/>
                          <a:ea typeface="Times New Roman"/>
                          <a:cs typeface="Arial"/>
                        </a:rPr>
                        <a:t>Nome do Campo</a:t>
                      </a:r>
                      <a:endParaRPr lang="pt-BR" sz="2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8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95250" algn="ctr"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pt-BR" sz="1800" b="1">
                          <a:solidFill>
                            <a:srgbClr val="4B4E79"/>
                          </a:solidFill>
                          <a:latin typeface="Verdana"/>
                          <a:ea typeface="Times New Roman"/>
                          <a:cs typeface="Arial"/>
                        </a:rPr>
                        <a:t>Tipo</a:t>
                      </a:r>
                      <a:endParaRPr lang="pt-BR" sz="2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8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95250" algn="ctr"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pt-BR" sz="1800" b="1">
                          <a:solidFill>
                            <a:srgbClr val="4B4E79"/>
                          </a:solidFill>
                          <a:latin typeface="Verdana"/>
                          <a:ea typeface="Times New Roman"/>
                          <a:cs typeface="Arial"/>
                        </a:rPr>
                        <a:t>Tamanho</a:t>
                      </a:r>
                      <a:endParaRPr lang="pt-BR" sz="2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8"/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95250" marR="95250" algn="just"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pt-BR" sz="1800">
                          <a:solidFill>
                            <a:srgbClr val="4B4E79"/>
                          </a:solidFill>
                          <a:latin typeface="Verdana"/>
                          <a:ea typeface="Times New Roman"/>
                          <a:cs typeface="Arial"/>
                        </a:rPr>
                        <a:t>B1_BITMAP</a:t>
                      </a:r>
                      <a:endParaRPr lang="pt-BR" sz="2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5250" marR="95250" algn="just"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pt-BR" sz="1800">
                          <a:solidFill>
                            <a:srgbClr val="4B4E79"/>
                          </a:solidFill>
                          <a:latin typeface="Verdana"/>
                          <a:ea typeface="Times New Roman"/>
                          <a:cs typeface="Arial"/>
                        </a:rPr>
                        <a:t>Caracter</a:t>
                      </a:r>
                      <a:endParaRPr lang="pt-BR" sz="28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95250" marR="95250" algn="just">
                        <a:spcBef>
                          <a:spcPts val="375"/>
                        </a:spcBef>
                        <a:spcAft>
                          <a:spcPts val="375"/>
                        </a:spcAft>
                      </a:pPr>
                      <a:r>
                        <a:rPr lang="pt-BR" sz="1800" dirty="0">
                          <a:solidFill>
                            <a:srgbClr val="4B4E79"/>
                          </a:solidFill>
                          <a:latin typeface="Verdana"/>
                          <a:ea typeface="Times New Roman"/>
                          <a:cs typeface="Arial"/>
                        </a:rPr>
                        <a:t>8</a:t>
                      </a:r>
                      <a:endParaRPr lang="pt-BR" sz="2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>
                    <a:lnL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B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2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B4E7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24113" y="2408238"/>
            <a:ext cx="429577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Repositório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Imagens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Repositório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Imagens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898" y="1711233"/>
            <a:ext cx="8613360" cy="4215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Repositório de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Imagens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77762" y="1612900"/>
            <a:ext cx="8767762" cy="51606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None/>
            </a:pPr>
            <a:r>
              <a:rPr lang="pt-BR" sz="3000" dirty="0" smtClean="0">
                <a:solidFill>
                  <a:srgbClr val="000066"/>
                </a:solidFill>
              </a:rPr>
              <a:t>Exercícios de Fixação </a:t>
            </a:r>
          </a:p>
          <a:p>
            <a:pPr marL="609600" indent="-6096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None/>
            </a:pPr>
            <a:endParaRPr lang="pt-BR" sz="3000" dirty="0" smtClean="0">
              <a:solidFill>
                <a:srgbClr val="000066"/>
              </a:solidFill>
            </a:endParaRPr>
          </a:p>
          <a:p>
            <a:pPr marL="609600" indent="-609600">
              <a:spcBef>
                <a:spcPct val="20000"/>
              </a:spcBef>
              <a:buClr>
                <a:srgbClr val="FF0000"/>
              </a:buClr>
            </a:pPr>
            <a:r>
              <a:rPr lang="pt-BR" dirty="0" smtClean="0"/>
              <a:t>Crie  um campo na tabela SZ5 chamado  Z5_BITMAP e adicione uma imagem.</a:t>
            </a:r>
          </a:p>
          <a:p>
            <a:pPr marL="609600" indent="-609600">
              <a:spcBef>
                <a:spcPct val="20000"/>
              </a:spcBef>
              <a:buClr>
                <a:srgbClr val="FF0000"/>
              </a:buClr>
              <a:buFont typeface="Wingdings" pitchFamily="2" charset="2"/>
              <a:buNone/>
            </a:pPr>
            <a:endParaRPr lang="pt-BR" dirty="0" smtClean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790260" y="2567770"/>
            <a:ext cx="7153275" cy="139858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Menu e Senha</a:t>
            </a:r>
            <a:endParaRPr lang="en-US" sz="4800" b="1" i="1" dirty="0">
              <a:solidFill>
                <a:srgbClr val="002060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5" grpId="2"/>
      <p:bldP spid="5" grpId="3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Menus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8" name="Imagem 7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47900" y="1435099"/>
            <a:ext cx="5167947" cy="4915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753030" y="6345824"/>
            <a:ext cx="662194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Escolha o módulo que pretende alterar o menu e clique em ok</a:t>
            </a:r>
            <a:endParaRPr kumimoji="0" lang="pt-B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423081" y="4445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Menus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6" name="Imagem 5"/>
          <p:cNvPicPr/>
          <p:nvPr/>
        </p:nvPicPr>
        <p:blipFill>
          <a:blip r:embed="rId2" cstate="print"/>
          <a:srcRect b="35516"/>
          <a:stretch>
            <a:fillRect/>
          </a:stretch>
        </p:blipFill>
        <p:spPr bwMode="auto">
          <a:xfrm>
            <a:off x="1550352" y="2037397"/>
            <a:ext cx="6043295" cy="2783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698219" y="1519824"/>
            <a:ext cx="4077783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Adicione</a:t>
            </a:r>
            <a:r>
              <a:rPr kumimoji="0" lang="pt-BR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o Menu no Botão “Adicionar”</a:t>
            </a:r>
            <a:endParaRPr kumimoji="0" lang="pt-B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Menus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6" name="Imagem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7687" y="1792287"/>
            <a:ext cx="5407025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291431" y="4705459"/>
            <a:ext cx="8585869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Descrição em Português:</a:t>
            </a: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Descrição que você quer que apareça no menu;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Programa:</a:t>
            </a: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Nome da </a:t>
            </a:r>
            <a:r>
              <a:rPr kumimoji="0" lang="pt-B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User</a:t>
            </a: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</a:t>
            </a:r>
            <a:r>
              <a:rPr kumimoji="0" lang="pt-B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Function</a:t>
            </a: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de seu programa;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Módulo:</a:t>
            </a: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escolha o módulo desejado;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Tipo:</a:t>
            </a: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Escolha a opção adequada ao item no menu;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Rotina do </a:t>
            </a:r>
            <a:r>
              <a:rPr kumimoji="0" lang="pt-BR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Browse</a:t>
            </a: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: </a:t>
            </a: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Escolha os itens do </a:t>
            </a:r>
            <a:r>
              <a:rPr kumimoji="0" lang="pt-BR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browse</a:t>
            </a: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que o usuário desse menu terá acesso;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Tabelas: </a:t>
            </a: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Selecione as tabelas que esse programa precisará abrir.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23081" y="0"/>
            <a:ext cx="4394982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endParaRPr lang="pt-BR" sz="3000" b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Menus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3074" name="Imagem 2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00400" y="1943100"/>
            <a:ext cx="2667000" cy="1952625"/>
          </a:xfrm>
          <a:prstGeom prst="rect">
            <a:avLst/>
          </a:prstGeom>
          <a:noFill/>
        </p:spPr>
      </p:pic>
      <p:pic>
        <p:nvPicPr>
          <p:cNvPr id="3073" name="Imagem 2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32100" y="4670425"/>
            <a:ext cx="3819525" cy="1476375"/>
          </a:xfrm>
          <a:prstGeom prst="rect">
            <a:avLst/>
          </a:prstGeom>
          <a:noFill/>
        </p:spPr>
      </p:pic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266700" y="1464102"/>
            <a:ext cx="784163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Após ter preenchido todos os dados clique em OK e em seguida em gerar,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surgira a seguinte tela: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214313" y="3962827"/>
            <a:ext cx="653678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Coloque o nome do menu sem a extensão e clique em gerar,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se o menu já existir aparecerá a seguinte tela: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78515" y="6057325"/>
            <a:ext cx="493256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Clique em sim e em seguida clique em fechar.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357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Senhas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05473" name="Rectangle 1"/>
          <p:cNvSpPr>
            <a:spLocks noChangeArrowheads="1"/>
          </p:cNvSpPr>
          <p:nvPr/>
        </p:nvSpPr>
        <p:spPr bwMode="auto">
          <a:xfrm>
            <a:off x="257628" y="1582291"/>
            <a:ext cx="8467272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As senhas são utilizadas para restringir o acesso às rotinas do sistema. Este controle é realizado através da relação entre senha e o menu de opções utilizado pelo usuário.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546100" y="2946910"/>
            <a:ext cx="6197600" cy="304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Procedimentos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endParaRPr lang="pt-BR" sz="1600" dirty="0" smtClean="0">
              <a:latin typeface="Verdana" pitchFamily="34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Este controle é feito da seguinte forma: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1. Cria-se um grupo de cfgx018usuários, informando seu nome e prazo de validade; 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2. Na janela "Detalhes", faz-se a atribuição dos seus direitos; 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r>
              <a:rPr kumimoji="0" lang="pt-BR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3. Após a definição do grupo, criam-se os usuários que irão compô-lo. </a:t>
            </a: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914900" algn="l"/>
              </a:tabLst>
            </a:pPr>
            <a:endParaRPr kumimoji="0" lang="pt-B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Parâmetro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6" grpId="2"/>
      <p:bldP spid="6" grpId="3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8124" y="1625600"/>
            <a:ext cx="8593776" cy="48512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357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Parâmetro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4357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Parâmetro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71700" y="1847850"/>
            <a:ext cx="4800600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err="1" smtClean="0">
                <a:solidFill>
                  <a:srgbClr val="002060"/>
                </a:solidFill>
                <a:latin typeface="Tahoma" pitchFamily="34" charset="0"/>
              </a:rPr>
              <a:t>Log</a:t>
            </a:r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 de Registro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1"/>
          <p:cNvSpPr>
            <a:spLocks noChangeArrowheads="1"/>
          </p:cNvSpPr>
          <p:nvPr/>
        </p:nvSpPr>
        <p:spPr bwMode="auto">
          <a:xfrm>
            <a:off x="571500" y="1490178"/>
            <a:ext cx="78105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O sistema adiciona estes campos conforme a nomenclatura dos arquivos controlados, ou seja, dependendo da família a que pertencem.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t-BR" sz="1400" dirty="0" smtClean="0"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Observe: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lvl="1" eaLnBrk="0" hangingPunct="0"/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• Família "S" - são criados os campos XX_USERLGI e XX_USERLGA. 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lvl="1" eaLnBrk="0" hangingPunct="0"/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• Famílias "</a:t>
            </a:r>
            <a:r>
              <a:rPr kumimoji="0" lang="pt-B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Axx</a:t>
            </a: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","</a:t>
            </a:r>
            <a:r>
              <a:rPr kumimoji="0" lang="pt-B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Yxx</a:t>
            </a: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" e "</a:t>
            </a:r>
            <a:r>
              <a:rPr kumimoji="0" lang="pt-BR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Zxx</a:t>
            </a: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" - são ser criados os campos XXX_USERLGI e XXX_USERLGA. 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	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Exemplos: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1)  Arquivo: SA1 (Cadastro de Clientes)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Campos: A1_USERLGI e A1_USERLGA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2) Arquivo AA1 (Cadastro de Técnicos)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Campos: AA1_USERLGI e AA1_USERLGA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lvl="1" eaLnBrk="0" hangingPunct="0"/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Onde: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lvl="2" eaLnBrk="0" hangingPunct="0"/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_USERLGI - controla os registros de inclusão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lvl="2" eaLnBrk="0" hangingPunct="0"/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_USERLGA - controla os registros de alteração e exclusão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lvl="1" eaLnBrk="0" hangingPunct="0"/>
            <a:r>
              <a:rPr kumimoji="0" lang="pt-BR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O tipo e tamanho dos campos são automaticamente definidos pelo sistema no momento da inclusão.</a:t>
            </a:r>
            <a:endParaRPr kumimoji="0" lang="pt-B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357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err="1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Log</a:t>
            </a: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de Registro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4213" y="1506538"/>
            <a:ext cx="7800975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357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err="1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Log</a:t>
            </a: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 de Registro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357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Consulta </a:t>
            </a:r>
            <a:r>
              <a:rPr lang="pt-BR" sz="3000" b="1" i="1" spc="200" dirty="0" err="1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Log</a:t>
            </a:r>
            <a:endParaRPr lang="pt-BR" sz="3000" b="1" i="1" spc="200" dirty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pic>
        <p:nvPicPr>
          <p:cNvPr id="11366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6925" y="1543050"/>
            <a:ext cx="7600950" cy="483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Schedule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357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Schedule</a:t>
            </a:r>
          </a:p>
        </p:txBody>
      </p:sp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84217" y="1658982"/>
            <a:ext cx="7270841" cy="4104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smtClean="0">
                <a:solidFill>
                  <a:srgbClr val="002060"/>
                </a:solidFill>
                <a:latin typeface="Tahoma" pitchFamily="34" charset="0"/>
              </a:rPr>
              <a:t>Processos</a:t>
            </a:r>
            <a:endParaRPr lang="pt-BR" sz="4800" b="1" i="1" dirty="0" smtClean="0">
              <a:solidFill>
                <a:srgbClr val="002060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357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Processos</a:t>
            </a:r>
          </a:p>
        </p:txBody>
      </p:sp>
      <p:sp>
        <p:nvSpPr>
          <p:cNvPr id="108545" name="Rectangle 1"/>
          <p:cNvSpPr>
            <a:spLocks noChangeArrowheads="1"/>
          </p:cNvSpPr>
          <p:nvPr/>
        </p:nvSpPr>
        <p:spPr bwMode="auto">
          <a:xfrm>
            <a:off x="242026" y="3171190"/>
            <a:ext cx="8609874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	Podemos entender como Processo os procedimentos que necessitem ser gerados e executados dentro do sistema, e que possam ser configurados e agendados. Além disso, o sistema permite configurar o envio de um mesmo relatório por e-mail para vários horários e parâmetros diferentes.</a:t>
            </a:r>
            <a:endParaRPr kumimoji="0" lang="pt-BR" sz="4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Relatórios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1"/>
          <p:cNvSpPr>
            <a:spLocks noChangeArrowheads="1"/>
          </p:cNvSpPr>
          <p:nvPr/>
        </p:nvSpPr>
        <p:spPr bwMode="auto">
          <a:xfrm>
            <a:off x="574765" y="2527688"/>
            <a:ext cx="797665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A configuração dos processos de relatórios, permite que relatórios sejam selecionados e agendados para impressão automática, dentro da freqüência desejada, ou seja, podemos selecionar os relatórios mais importantes de várias rotinas do sistema, e programá-las para que sejam executadas automaticamente, com a periodicidade que mais convier.</a:t>
            </a:r>
            <a:endParaRPr kumimoji="0" lang="pt-B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357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Relatórios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8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73175" y="2146300"/>
            <a:ext cx="66484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357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Relatórios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Processos Batch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103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Processos Batch</a:t>
            </a:r>
          </a:p>
        </p:txBody>
      </p:sp>
      <p:sp>
        <p:nvSpPr>
          <p:cNvPr id="4" name="Retângulo 3"/>
          <p:cNvSpPr/>
          <p:nvPr/>
        </p:nvSpPr>
        <p:spPr>
          <a:xfrm>
            <a:off x="482600" y="2551837"/>
            <a:ext cx="80137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/>
              <a:t>Os processos batch permitem executar as rotinas do sistema que sejam referentes a fechamentos, recálculos e acertos, com agendamento prévio, sem que haja necessidade de acessar o menu deste ambiente</a:t>
            </a:r>
            <a:endParaRPr lang="pt-BR" sz="2000" dirty="0"/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445" y="1567544"/>
            <a:ext cx="8442960" cy="4900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4103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Processos Batch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Processos  Especiais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10381" y="4318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Processos Batch</a:t>
            </a:r>
          </a:p>
        </p:txBody>
      </p:sp>
      <p:sp>
        <p:nvSpPr>
          <p:cNvPr id="4" name="Retângulo 3"/>
          <p:cNvSpPr/>
          <p:nvPr/>
        </p:nvSpPr>
        <p:spPr>
          <a:xfrm>
            <a:off x="482600" y="2551837"/>
            <a:ext cx="80137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smtClean="0"/>
              <a:t>Os processos batch permitem executar as rotinas do sistema que sejam referentes a fechamentos, recálculos e acertos, com agendamento prévio, sem que haja necessidade de acessar o menu deste ambiente</a:t>
            </a:r>
            <a:endParaRPr lang="pt-BR" sz="2000" dirty="0"/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10381" y="368300"/>
            <a:ext cx="4394982" cy="80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Processos 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Especiais</a:t>
            </a:r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22375" y="1803400"/>
            <a:ext cx="664845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Web </a:t>
            </a:r>
            <a:r>
              <a:rPr lang="pt-BR" sz="4800" b="1" i="1" dirty="0" err="1" smtClean="0">
                <a:solidFill>
                  <a:srgbClr val="002060"/>
                </a:solidFill>
                <a:latin typeface="Tahoma" pitchFamily="34" charset="0"/>
              </a:rPr>
              <a:t>Service</a:t>
            </a:r>
            <a:endParaRPr lang="pt-BR" sz="4800" b="1" i="1" dirty="0" smtClean="0">
              <a:solidFill>
                <a:srgbClr val="002060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10381" y="5207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Web </a:t>
            </a:r>
            <a:r>
              <a:rPr lang="pt-BR" sz="3000" b="1" i="1" spc="200" dirty="0" err="1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Service</a:t>
            </a:r>
            <a:endParaRPr lang="pt-BR" sz="3000" b="1" i="1" spc="200" dirty="0" smtClean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9025" name="Rectangle 1"/>
          <p:cNvSpPr>
            <a:spLocks noChangeArrowheads="1"/>
          </p:cNvSpPr>
          <p:nvPr/>
        </p:nvSpPr>
        <p:spPr bwMode="auto">
          <a:xfrm>
            <a:off x="330200" y="1849042"/>
            <a:ext cx="8382000" cy="3693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O ambiente Configurador dispõe de um recurso de programação de tarefas, onde é possível gerar e enviar relatórios e posições de processos controlados pelos ambientes do Protheus.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Para enviar e receber os relatórios programados através do Schedule, estão disponíveis dois recursos distintos: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1" i="0" u="sng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Web </a:t>
            </a:r>
            <a:r>
              <a:rPr kumimoji="0" lang="pt-BR" b="1" i="0" u="sng" strike="noStrike" cap="none" normalizeH="0" baseline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Spool</a:t>
            </a:r>
            <a:r>
              <a:rPr kumimoji="0" lang="pt-BR" b="1" i="0" u="sng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pt-BR" b="1" i="0" u="sng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Recurso de visualização dos relatórios programados através do Schedule ou do Web </a:t>
            </a:r>
            <a:r>
              <a:rPr kumimoji="0" lang="pt-B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Print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  <a:ea typeface="Times New Roman" pitchFamily="18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1" i="0" u="sng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Web </a:t>
            </a:r>
            <a:r>
              <a:rPr kumimoji="0" lang="pt-BR" b="1" i="0" u="sng" strike="noStrike" cap="none" normalizeH="0" baseline="0" dirty="0" err="1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Print</a:t>
            </a:r>
            <a:r>
              <a:rPr kumimoji="0" lang="pt-BR" b="1" i="0" u="sng" strike="noStrike" cap="none" normalizeH="0" baseline="0" dirty="0" smtClean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</a:t>
            </a:r>
            <a:endParaRPr kumimoji="0" lang="pt-BR" b="1" i="0" u="sng" strike="noStrike" cap="none" normalizeH="0" baseline="0" dirty="0" smtClean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Recurso para geração do relatório e direcionamento de envio (via Web ou via </a:t>
            </a:r>
            <a:r>
              <a:rPr kumimoji="0" lang="pt-B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E-mail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).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Web </a:t>
            </a:r>
            <a:r>
              <a:rPr lang="pt-BR" sz="4800" b="1" i="1" dirty="0" err="1" smtClean="0">
                <a:solidFill>
                  <a:srgbClr val="002060"/>
                </a:solidFill>
                <a:latin typeface="Tahoma" pitchFamily="34" charset="0"/>
              </a:rPr>
              <a:t>Spool</a:t>
            </a:r>
            <a:endParaRPr lang="pt-BR" sz="4800" b="1" i="1" dirty="0" smtClean="0">
              <a:solidFill>
                <a:srgbClr val="002060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10381" y="3683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Web </a:t>
            </a:r>
            <a:r>
              <a:rPr lang="pt-BR" sz="3000" b="1" i="1" spc="200" dirty="0" err="1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Spool</a:t>
            </a:r>
            <a:endParaRPr lang="pt-BR" sz="3000" b="1" i="1" spc="200" dirty="0" smtClean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128002" name="Rectangle 2"/>
          <p:cNvSpPr>
            <a:spLocks noChangeArrowheads="1"/>
          </p:cNvSpPr>
          <p:nvPr/>
        </p:nvSpPr>
        <p:spPr bwMode="auto">
          <a:xfrm>
            <a:off x="782320" y="2931636"/>
            <a:ext cx="785368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O Web </a:t>
            </a:r>
            <a:r>
              <a:rPr kumimoji="0" lang="pt-B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Spool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é uma ferramenta que permite visualizar via Web os relatórios programados pelo Schedule. Para tanto, algumas configurações devem ser verificadas no Server Protheus, que deve estar configurado como um servidor </a:t>
            </a:r>
            <a:r>
              <a:rPr kumimoji="0" lang="pt-B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http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Web </a:t>
            </a:r>
            <a:r>
              <a:rPr lang="pt-BR" sz="4800" b="1" i="1" dirty="0" err="1" smtClean="0">
                <a:solidFill>
                  <a:srgbClr val="002060"/>
                </a:solidFill>
                <a:latin typeface="Tahoma" pitchFamily="34" charset="0"/>
              </a:rPr>
              <a:t>Print</a:t>
            </a:r>
            <a:endParaRPr lang="pt-BR" sz="4800" b="1" i="1" dirty="0" smtClean="0">
              <a:solidFill>
                <a:srgbClr val="002060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10381" y="3683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err="1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WebPrint</a:t>
            </a:r>
            <a:endParaRPr lang="pt-BR" sz="3000" b="1" i="1" spc="200" dirty="0" smtClean="0">
              <a:ln w="11430"/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773974" y="3247937"/>
            <a:ext cx="755722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A rotina de Web </a:t>
            </a:r>
            <a:r>
              <a:rPr kumimoji="0" lang="pt-B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Print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 possibilita que um relatório seja gerado e enviado via navegador Web (Browser), acessando o próprio sistema e sua interface Web. O relatório poderá ser enviado para e-mail ou para o próprio Web </a:t>
            </a:r>
            <a:r>
              <a:rPr kumimoji="0" lang="pt-BR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Spool</a:t>
            </a: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.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3555007" y="2619240"/>
            <a:ext cx="4994275" cy="1398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 anchor="ctr"/>
          <a:lstStyle/>
          <a:p>
            <a:pPr algn="r"/>
            <a:r>
              <a:rPr lang="pt-BR" sz="4800" b="1" i="1" dirty="0" smtClean="0">
                <a:solidFill>
                  <a:srgbClr val="002060"/>
                </a:solidFill>
                <a:latin typeface="Tahoma" pitchFamily="34" charset="0"/>
              </a:rPr>
              <a:t>Gatilhos</a:t>
            </a:r>
          </a:p>
        </p:txBody>
      </p:sp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accel="500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8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1" presetClass="entr" presetSubtype="0" fill="hold" grpId="1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4762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0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4" presetClass="entr" presetSubtype="0" fill="hold" grpId="2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4" dur="84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5" dur="280" decel="5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6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7" dur="280" decel="100000" autoRev="1" fill="hold">
                                          <p:stCondLst>
                                            <p:cond delay="84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8" presetID="38" presetClass="entr" presetSubtype="0" accel="50000" fill="hold" grpId="3" nodeType="withEffect">
                                  <p:stCondLst>
                                    <p:cond delay="400"/>
                                  </p:stCondLst>
                                  <p:iterate type="lt">
                                    <p:tmPct val="8571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0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28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8" decel="50000" autoRev="1" fill="hold">
                                          <p:stCondLst>
                                            <p:cond delay="22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8" fill="hold">
                                          <p:stCondLst>
                                            <p:cond delay="43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2" grpId="2"/>
      <p:bldP spid="2" grpId="3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410381" y="368300"/>
            <a:ext cx="4394982" cy="345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lang="pt-BR" sz="3000" b="1" i="1" spc="200" dirty="0" smtClean="0">
                <a:ln w="11430"/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</a:rPr>
              <a:t>Gatilhos</a:t>
            </a:r>
          </a:p>
        </p:txBody>
      </p:sp>
      <p:sp>
        <p:nvSpPr>
          <p:cNvPr id="134145" name="Rectangle 1"/>
          <p:cNvSpPr>
            <a:spLocks noChangeArrowheads="1"/>
          </p:cNvSpPr>
          <p:nvPr/>
        </p:nvSpPr>
        <p:spPr bwMode="auto">
          <a:xfrm>
            <a:off x="304800" y="1607234"/>
            <a:ext cx="82677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Verdana" pitchFamily="34" charset="0"/>
                <a:ea typeface="Times New Roman" pitchFamily="18" charset="0"/>
                <a:cs typeface="Arial" pitchFamily="34" charset="0"/>
              </a:rPr>
              <a:t>Rotina que define os campos que devem preencher outros campos no momento em que o campo for preenchido.</a:t>
            </a:r>
            <a:endParaRPr kumimoji="0" lang="pt-BR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5" name="Imagem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07452" y="2640012"/>
            <a:ext cx="6539548" cy="322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split orient="vert" dir="in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10422</TotalTime>
  <Words>1785</Words>
  <Application>Microsoft Office PowerPoint</Application>
  <PresentationFormat>Apresentação na tela (4:3)</PresentationFormat>
  <Paragraphs>444</Paragraphs>
  <Slides>74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74</vt:i4>
      </vt:variant>
    </vt:vector>
  </HeadingPairs>
  <TitlesOfParts>
    <vt:vector size="82" baseType="lpstr">
      <vt:lpstr>Arial</vt:lpstr>
      <vt:lpstr>Calibri</vt:lpstr>
      <vt:lpstr>Tahoma</vt:lpstr>
      <vt:lpstr>Times New Roman</vt:lpstr>
      <vt:lpstr>Verdana</vt:lpstr>
      <vt:lpstr>Wingdings</vt:lpstr>
      <vt:lpstr>Personalizar design</vt:lpstr>
      <vt:lpstr>1_Personalizar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Cris</dc:creator>
  <cp:lastModifiedBy>Milton J.dos Santos</cp:lastModifiedBy>
  <cp:revision>392</cp:revision>
  <dcterms:created xsi:type="dcterms:W3CDTF">2007-02-04T19:43:04Z</dcterms:created>
  <dcterms:modified xsi:type="dcterms:W3CDTF">2020-07-25T12:46:46Z</dcterms:modified>
</cp:coreProperties>
</file>